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orben"/>
      <p:regular r:id="rId201314"/>
    </p:embeddedFont>
    <p:embeddedFont>
      <p:font typeface="Corben Bold"/>
      <p:regular r:id="rId201315"/>
    </p:embeddedFont>
    <p:embeddedFont>
      <p:font typeface="Nobile"/>
      <p:regular r:id="rId201316"/>
    </p:embeddedFont>
    <p:embeddedFont>
      <p:font typeface="Nobi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16" y="1432520"/>
            <a:ext cx="6053978" cy="2446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Complete Hackathon Learning Journal: Weather Classification → Generation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782916" y="4172843"/>
            <a:ext cx="6053978" cy="1252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Concise record of experiments across six notebooks (MH1–MH6). Built for ML practitioners and hackathon participants, with a focus on reproducible methods, failure analysis, and deployable results.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778570"/>
            <a:ext cx="10625864" cy="489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MH1 — Baseline Transfer Learning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16" y="1659334"/>
            <a:ext cx="979761" cy="12246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07344" y="1659334"/>
            <a:ext cx="2154382" cy="305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Setup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2007344" y="2082502"/>
            <a:ext cx="2154382" cy="2191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1125 images across 4 classes. Split 70/15/15 (seed=42). Trained ResNet18 and VGG16 with frozen feature extractors and a classifier head only.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393" y="1659334"/>
            <a:ext cx="979761" cy="12246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30821" y="1659334"/>
            <a:ext cx="2154382" cy="305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Diagnostics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630821" y="2082502"/>
            <a:ext cx="2154382" cy="3131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confusion matrices, per-class accuracy tables, layer-activation views, and Grad-CAM heatmaps. The models showed complementary failure modes, which helped pinpoint where each one struggled.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870" y="1659334"/>
            <a:ext cx="979860" cy="12248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54397" y="1659334"/>
            <a:ext cx="2154382" cy="305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Pruning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254397" y="2082502"/>
            <a:ext cx="2154382" cy="2505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ResNet18 held up under 50% pruning but collapsed at 70%. VGG16 improved after 70% pruning and fine-tuning, suggesting its extra parameters acted as a regularizer.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82916" y="5434013"/>
            <a:ext cx="10625864" cy="645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metrics: ResNet18 reached 95.29% test accuracy with a 5.32% gap; VGG16 reached 94.71% with a 1.58% gap. For reproducibility, use </a:t>
            </a:r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weights='IMAGENET1K_V1'</a:t>
            </a:r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freeze features for fast baseline runs.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578048"/>
            <a:ext cx="10625864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MH2 — Advanced Optimization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82916" y="1324273"/>
            <a:ext cx="3438439" cy="2317254"/>
          </a:xfrm>
          <a:prstGeom prst="roundRect">
            <a:avLst>
              <a:gd name="adj" fmla="val 3160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3588" y="1504950"/>
            <a:ext cx="3077093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Stage 1 — Augmentation (ResNet18)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3588" y="2142728"/>
            <a:ext cx="3077093" cy="1318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Added flips, 15° rotation, and ColorJitter. Test accuracy fell to 92.35% because frozen features could not adapt and the FC head was too limited.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76529" y="1324273"/>
            <a:ext cx="3438538" cy="2317254"/>
          </a:xfrm>
          <a:prstGeom prst="roundRect">
            <a:avLst>
              <a:gd name="adj" fmla="val 3160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57202" y="1504950"/>
            <a:ext cx="3077193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Stage 2 — Fine-tuned VGG16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57202" y="1870373"/>
            <a:ext cx="3077193" cy="1581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Unfroze the last convolution block and used discriminative learning rates (conv: 1e-4 SGD; FC: 1e-3 Adam). Result: 94.71% test, 97.62% validation, early stop at epoch 12, with ≈7.1M trainable parameters.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70241" y="1324273"/>
            <a:ext cx="3438538" cy="2317254"/>
          </a:xfrm>
          <a:prstGeom prst="roundRect">
            <a:avLst>
              <a:gd name="adj" fmla="val 3160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0914" y="1504950"/>
            <a:ext cx="3077193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Stage 3 — Ensemble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50914" y="1870373"/>
            <a:ext cx="3077193" cy="1581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Soft-voting ResNet18 + VGG16 improved test accuracy to 95.29% (+0.59%). The ensemble fixed many model-specific errors; the remaining mistakes were mostly ambiguous images.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2916" y="3796705"/>
            <a:ext cx="5235345" cy="1781274"/>
          </a:xfrm>
          <a:prstGeom prst="roundRect">
            <a:avLst>
              <a:gd name="adj" fmla="val 4110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3588" y="3977382"/>
            <a:ext cx="4873999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Stage 4 — Distillation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3588" y="4342805"/>
            <a:ext cx="4873999" cy="1054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Used the ensemble as teacher and a random CNN student (23.9M params). With T=3 and α=0.7, the student reached 91.18% accuracy (95.7% transfer). Takeaway: pretrained students work better.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3435" y="3796705"/>
            <a:ext cx="5235345" cy="1781274"/>
          </a:xfrm>
          <a:prstGeom prst="roundRect">
            <a:avLst>
              <a:gd name="adj" fmla="val 4110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4107" y="3977382"/>
            <a:ext cx="4873999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Stage 5 — VGG16 70% Pruning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54107" y="4342805"/>
            <a:ext cx="4873999" cy="1054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Applied global L1 pruning at 70%, then fine-tuned for 5 epochs. Test accuracy rose to 95.88% — the best result — showing that removing redundant weights can act as strong regularization.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2916" y="5752604"/>
            <a:ext cx="10625864" cy="5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Inference time on Colab T4: ResNet18 1.37s, Student 1.34s, Pruned VGG16 1.49s, VGG16 1.74s, Ensemble 1.80s. The dataset appears to top out at about 96% because some labels are ambiguous.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16" y="2147391"/>
            <a:ext cx="4523071" cy="25631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2423" y="738485"/>
            <a:ext cx="5632607" cy="963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MH3 — MobileNetV2 Distillation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782423" y="1891506"/>
            <a:ext cx="5632607" cy="2636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a pretrained MobileNetV2 student with 3.4M parameters and depthwise separable convolutions, which reduce computation by splitting standard convolutions into channel-wise and pointwise steps. Replace the classifier with </a:t>
            </a:r>
            <a:pPr algn="l" indent="0" marL="0">
              <a:lnSpc>
                <a:spcPct val="132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Linear(1280, 4)</a:t>
            </a:r>
            <a:pPr algn="l" indent="0" marL="0">
              <a:lnSpc>
                <a:spcPct val="132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5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should outperform a random CNN student because pretrained features provide a stronger starting point for distillation.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782423" y="4740870"/>
            <a:ext cx="5632607" cy="1354931"/>
          </a:xfrm>
          <a:prstGeom prst="roundRect">
            <a:avLst>
              <a:gd name="adj" fmla="val 5973"/>
            </a:avLst>
          </a:prstGeom>
          <a:solidFill>
            <a:srgbClr val="D2D9F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101" y="5013127"/>
            <a:ext cx="240798" cy="1926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8577" y="4959648"/>
            <a:ext cx="4813775" cy="917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Recommendation: prefer pretrained compact architectures, such as MobileNet or EfficientNet-Lite, for production distillation.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84113"/>
            <a:ext cx="10625864" cy="443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MH4 — ONNX Deployment &amp; Live Demo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2916" y="1449090"/>
            <a:ext cx="2535869" cy="39840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44391" y="1582142"/>
            <a:ext cx="212819" cy="266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79265" y="2158504"/>
            <a:ext cx="2143171" cy="277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File corruption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79265" y="2532063"/>
            <a:ext cx="2143171" cy="2163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downloaded .pt file was truncated (185MB vs. 512MB). To make MH4 self-contained, we retrained and pruned the model inside the notebook instead of transferring large files.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9515" y="1449090"/>
            <a:ext cx="2535968" cy="39840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1089" y="1582142"/>
            <a:ext cx="212819" cy="266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3675864" y="2158504"/>
            <a:ext cx="2143270" cy="554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Fine-tuning instability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675864" y="2809180"/>
            <a:ext cx="2143270" cy="2163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Pruning caused loss oscillation. The fix: save the best validation checkpoint, lower the learning rate to 5e-5, and validate on the validation set—not the test set.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6213" y="1449090"/>
            <a:ext cx="2535869" cy="39840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37688" y="1582142"/>
            <a:ext cx="212819" cy="266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372562" y="2158504"/>
            <a:ext cx="2143171" cy="554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ONNX export issues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372562" y="2809180"/>
            <a:ext cx="2143171" cy="2182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Dynamo-based exporter mis-handled a VGG reshape. We switched to </a:t>
            </a:r>
            <a:pPr algn="l" indent="0" marL="0">
              <a:lnSpc>
                <a:spcPct val="127000"/>
              </a:lnSpc>
              <a:buNone/>
            </a:pPr>
            <a:r>
              <a:rPr lang="en-US" sz="13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dynamo=false</a:t>
            </a:r>
            <a:pPr algn="l" indent="0" marL="0">
              <a:lnSpc>
                <a:spcPct val="127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(the TorchScript export path) for a reliable ONNX export.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72812" y="1449090"/>
            <a:ext cx="2535968" cy="39840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34386" y="1582142"/>
            <a:ext cx="212819" cy="266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9069161" y="2158504"/>
            <a:ext cx="2143270" cy="277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Compression results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9069161" y="2532063"/>
            <a:ext cx="2143270" cy="2704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ONNX FP32: 512.2MB and 1.3× faster. ONNX INT8: 128.1MB, 4× smaller, with CPU time of about 390ms. The quantization overhead hurt speed on a generic CPU, but INT8 still won on model size; hardware determines the speed tradeoff.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82916" y="5613896"/>
            <a:ext cx="10625864" cy="5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also made the demo more robust: switched weather validation to wttr.in so no API key is needed, added the missing Colab import for </a:t>
            </a:r>
            <a:pPr algn="l" indent="0" marL="0">
              <a:lnSpc>
                <a:spcPct val="127000"/>
              </a:lnSpc>
              <a:buNone/>
            </a:pPr>
            <a:r>
              <a:rPr lang="en-US" sz="13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files.upload</a:t>
            </a:r>
            <a:pPr algn="l" indent="0" marL="0">
              <a:lnSpc>
                <a:spcPct val="127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and standardized preprocessing to resize any phone photo to 224×224.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16" y="561677"/>
            <a:ext cx="6053978" cy="795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MH5 — Conditional GAN Weather Generator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782916" y="1550591"/>
            <a:ext cx="158944" cy="1585317"/>
          </a:xfrm>
          <a:prstGeom prst="roundRect">
            <a:avLst>
              <a:gd name="adj" fmla="val 42025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71040" y="1709539"/>
            <a:ext cx="5765854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Design choices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71040" y="2035572"/>
            <a:ext cx="5765854" cy="941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 64×64 images and normalize pixels to [-1,1]. Use 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nn.Embedding</a:t>
            </a:r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class conditioning, so the model can learn a weather label alongside the image. The generator is trained from scratch, while the discriminator reuses frozen VGG16 features.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021431" y="3265091"/>
            <a:ext cx="158944" cy="1566267"/>
          </a:xfrm>
          <a:prstGeom prst="roundRect">
            <a:avLst>
              <a:gd name="adj" fmla="val 42025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09556" y="3424039"/>
            <a:ext cx="5527338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Training stabilizers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309556" y="3750072"/>
            <a:ext cx="5527338" cy="922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label smoothing (real = 0.9) to soften the discriminator’s targets. Frozen discriminator features help encode realism, and concatenating the class embedding with the noise vector improves control over the generated weather type.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259947" y="4960541"/>
            <a:ext cx="158944" cy="1335683"/>
          </a:xfrm>
          <a:prstGeom prst="roundRect">
            <a:avLst>
              <a:gd name="adj" fmla="val 42025"/>
            </a:avLst>
          </a:pr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48071" y="5119489"/>
            <a:ext cx="5288822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Validation loop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548071" y="5445522"/>
            <a:ext cx="5288822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 a trained classifier on generated images as a proxy for FID. If the classifier predicts the intended weather label with high confidence, the generator is learning meaningful weather semantics.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07318"/>
            <a:ext cx="10625864" cy="3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Cross-Notebook Key Learnings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086323" y="1096963"/>
            <a:ext cx="19050" cy="4888706"/>
          </a:xfrm>
          <a:prstGeom prst="roundRect">
            <a:avLst>
              <a:gd name="adj" fmla="val 49999"/>
            </a:avLst>
          </a:prstGeom>
          <a:solidFill>
            <a:srgbClr val="B8BFDF"/>
          </a:solidFill>
          <a:ln/>
        </p:spPr>
      </p:sp>
      <p:sp>
        <p:nvSpPr>
          <p:cNvPr id="4" name="Shape 2"/>
          <p:cNvSpPr/>
          <p:nvPr/>
        </p:nvSpPr>
        <p:spPr>
          <a:xfrm>
            <a:off x="763866" y="1096963"/>
            <a:ext cx="5312932" cy="860921"/>
          </a:xfrm>
          <a:custGeom>
            <a:avLst/>
            <a:gdLst/>
            <a:ahLst/>
            <a:cxnLst/>
            <a:rect l="l" t="t" r="r" b="b"/>
            <a:pathLst>
              <a:path w="5312932" h="860921">
                <a:moveTo>
                  <a:pt x="44959" y="0"/>
                </a:moveTo>
                <a:lnTo>
                  <a:pt x="5312932" y="0"/>
                </a:lnTo>
                <a:lnTo>
                  <a:pt x="5312932" y="860921"/>
                </a:lnTo>
                <a:lnTo>
                  <a:pt x="44959" y="860921"/>
                </a:lnTo>
                <a:arcTo hR="44960" wR="44959" stAng="5400000" swAng="5400000"/>
                <a:lnTo>
                  <a:pt x="0" y="44960"/>
                </a:lnTo>
                <a:arcTo hR="44960" wR="44959" stAng="10800000" swAng="5400000"/>
                <a:close/>
              </a:path>
            </a:pathLst>
          </a:cu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8602" y="1231702"/>
            <a:ext cx="504981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 — Augmentation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98602" y="1482824"/>
            <a:ext cx="5049810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Augmentation only works well with fine-tuned features; with an FC-only head, it can actually hurt performance.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14897" y="2126456"/>
            <a:ext cx="5312932" cy="860921"/>
          </a:xfrm>
          <a:custGeom>
            <a:avLst/>
            <a:gdLst/>
            <a:ahLst/>
            <a:cxnLst/>
            <a:rect l="l" t="t" r="r" b="b"/>
            <a:pathLst>
              <a:path w="5312932" h="860921">
                <a:moveTo>
                  <a:pt x="0" y="0"/>
                </a:moveTo>
                <a:lnTo>
                  <a:pt x="5267973" y="0"/>
                </a:lnTo>
                <a:arcTo hR="44960" wR="44959" stAng="16200000" swAng="5400000"/>
                <a:lnTo>
                  <a:pt x="5312932" y="815961"/>
                </a:lnTo>
                <a:arcTo hR="44960" wR="44959" stAng="0" swAng="5400000"/>
                <a:lnTo>
                  <a:pt x="0" y="860921"/>
                </a:lnTo>
                <a:lnTo>
                  <a:pt x="0" y="0"/>
                </a:lnTo>
                <a:close/>
              </a:path>
            </a:pathLst>
          </a:cu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3283" y="2261195"/>
            <a:ext cx="504981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 — Fine-tuning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43283" y="2512318"/>
            <a:ext cx="5049810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Unfreezing the last convolutional block and using a discriminative learning rate delivered the best generalization on small datasets.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3866" y="3155950"/>
            <a:ext cx="5312932" cy="860921"/>
          </a:xfrm>
          <a:custGeom>
            <a:avLst/>
            <a:gdLst/>
            <a:ahLst/>
            <a:cxnLst/>
            <a:rect l="l" t="t" r="r" b="b"/>
            <a:pathLst>
              <a:path w="5312932" h="860921">
                <a:moveTo>
                  <a:pt x="44959" y="0"/>
                </a:moveTo>
                <a:lnTo>
                  <a:pt x="5312932" y="0"/>
                </a:lnTo>
                <a:lnTo>
                  <a:pt x="5312932" y="860921"/>
                </a:lnTo>
                <a:lnTo>
                  <a:pt x="44959" y="860921"/>
                </a:lnTo>
                <a:arcTo hR="44960" wR="44959" stAng="5400000" swAng="5400000"/>
                <a:lnTo>
                  <a:pt x="0" y="44960"/>
                </a:lnTo>
                <a:arcTo hR="44960" wR="44959" stAng="10800000" swAng="5400000"/>
                <a:close/>
              </a:path>
            </a:pathLst>
          </a:cu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8602" y="3290689"/>
            <a:ext cx="504981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 — Ensembles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8602" y="3541812"/>
            <a:ext cx="5049810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Ensembles help most when models fail in different ways; they only sometimes fix truly ambiguous errors.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14897" y="4185444"/>
            <a:ext cx="5312932" cy="770731"/>
          </a:xfrm>
          <a:custGeom>
            <a:avLst/>
            <a:gdLst/>
            <a:ahLst/>
            <a:cxnLst/>
            <a:rect l="l" t="t" r="r" b="b"/>
            <a:pathLst>
              <a:path w="5312932" h="770731">
                <a:moveTo>
                  <a:pt x="0" y="0"/>
                </a:moveTo>
                <a:lnTo>
                  <a:pt x="5267973" y="0"/>
                </a:lnTo>
                <a:arcTo hR="44960" wR="44959" stAng="16200000" swAng="5400000"/>
                <a:lnTo>
                  <a:pt x="5312932" y="725771"/>
                </a:lnTo>
                <a:arcTo hR="44960" wR="44959" stAng="0" swAng="5400000"/>
                <a:lnTo>
                  <a:pt x="0" y="770731"/>
                </a:lnTo>
                <a:lnTo>
                  <a:pt x="0" y="0"/>
                </a:lnTo>
                <a:close/>
              </a:path>
            </a:pathLst>
          </a:cu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3283" y="4320183"/>
            <a:ext cx="504981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 — Pruning &gt; Distillation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43283" y="4571305"/>
            <a:ext cx="5049810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70% pruning, followed by fine-tuning, produced the best test result: 95.88%.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3866" y="5124748"/>
            <a:ext cx="5312932" cy="860921"/>
          </a:xfrm>
          <a:custGeom>
            <a:avLst/>
            <a:gdLst/>
            <a:ahLst/>
            <a:cxnLst/>
            <a:rect l="l" t="t" r="r" b="b"/>
            <a:pathLst>
              <a:path w="5312932" h="860921">
                <a:moveTo>
                  <a:pt x="44959" y="0"/>
                </a:moveTo>
                <a:lnTo>
                  <a:pt x="5312932" y="0"/>
                </a:lnTo>
                <a:lnTo>
                  <a:pt x="5312932" y="860921"/>
                </a:lnTo>
                <a:lnTo>
                  <a:pt x="44959" y="860921"/>
                </a:lnTo>
                <a:arcTo hR="44960" wR="44959" stAng="5400000" swAng="5400000"/>
                <a:lnTo>
                  <a:pt x="0" y="44960"/>
                </a:lnTo>
                <a:arcTo hR="44960" wR="44959" stAng="10800000" swAng="5400000"/>
                <a:close/>
              </a:path>
            </a:pathLst>
          </a:custGeom>
          <a:solidFill>
            <a:srgbClr val="D2D9F9"/>
          </a:solidFill>
          <a:ln w="6350">
            <a:solidFill>
              <a:srgbClr val="B8BF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602" y="5259487"/>
            <a:ext cx="504981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 — Dataset ceiling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8602" y="5510609"/>
            <a:ext cx="5049810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dataset appears capped at roughly 96% because the class definitions overlap, creating human-level ambiguity.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2916" y="6080423"/>
            <a:ext cx="11235449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Operational takeaways: save the best checkpoint, avoid file transfers for large artifacts, and note that PyTorch export mode (dynamo) affects ONNX reliability.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598388"/>
            <a:ext cx="10625864" cy="351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Problems Encountered &amp; Applied Fixes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2916" y="1215430"/>
          <a:ext cx="9143771" cy="914400"/>
        </p:xfrm>
        <a:graphic>
          <a:graphicData uri="http://schemas.openxmlformats.org/drawingml/2006/table">
            <a:tbl>
              <a:tblPr/>
              <a:tblGrid>
                <a:gridCol w="2296460"/>
                <a:gridCol w="2296460"/>
              </a:tblGrid>
              <a:tr h="327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Problem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Fix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20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Augmentation reduced accuracy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Fine-tuned the last convolutional block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20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Weak student CNN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Switched to pretrained MobileNetV2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714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Corrupted model file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Kept training and pruning inside the notebook for a self-contained workflow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714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Fine-tuning oscillation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Saved the best checkpoint and reduced the learning rate to 5e-5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273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ONNX shape error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Exported with dynamo=False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20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No weather API key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Switched to wttr.in, which requires no key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587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NameError after refactor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Added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google.colab import files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7140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INT8 slower on CPU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Accepted hardware-dependent speed and used INT8 for size savings</a:t>
                      </a:r>
                      <a:endParaRPr lang="en-US" sz="11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40687" marR="14068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725275" y="1192709"/>
            <a:ext cx="5689755" cy="580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fix maps to a small, reproducible change. The workflow emphasizes validation-set checks, deterministic split seeds, and automatic best-checkpoint saving during fine-tuning of pruned models.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16" y="596801"/>
            <a:ext cx="6053978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MH6 — EfficientNet-B3 + Test-Time Augmentation (Ceiling Test)</a:t>
            </a:r>
            <a:endParaRPr lang="en-US" sz="2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916" y="1518146"/>
            <a:ext cx="374641" cy="3746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2916" y="2036167"/>
            <a:ext cx="6053978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782916" y="2339082"/>
            <a:ext cx="6053978" cy="423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EfficientNet-B3 — 12M parameters, 300×300 inputs. Fine-tuned more deeply (last 2 blocks) with discriminative learning rates and cosine annealing.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916" y="2991545"/>
            <a:ext cx="374641" cy="3746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2916" y="3509566"/>
            <a:ext cx="6053978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Tactics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782916" y="3812480"/>
            <a:ext cx="6053978" cy="423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Used label smoothing (0.1), 7-view test-time augmentation, and no early stopping (25 epochs). Compared fairly against the pruned VGG16 head-to-head.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916" y="4464943"/>
            <a:ext cx="374641" cy="3746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2916" y="4982964"/>
            <a:ext cx="6053978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Outcome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782916" y="5285879"/>
            <a:ext cx="6053978" cy="423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three independent runs — pruned VGG16, EfficientNet-B3, and EfficientNet-B3 + TTA — converged at 95.88%, strong evidence of a dataset ceiling.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782916" y="5838031"/>
            <a:ext cx="6053978" cy="423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Bottom line: architecture and training choices improved stability and efficiency, but ambiguous labels capped test accuracy.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54801" y="557411"/>
            <a:ext cx="6053978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Recommendations &amp; Next Steps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354801" y="1825526"/>
            <a:ext cx="6053978" cy="3203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4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 small datasets, prioritize pruning, careful fine-tuning, and best-checkpoint tracking to keep the best model state.</a:t>
            </a:r>
            <a:endParaRPr lang="en-US" sz="1300" dirty="0"/>
          </a:p>
          <a:p>
            <a:pPr algn="l" marL="264160" indent="-264160">
              <a:lnSpc>
                <a:spcPct val="124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 deployment, export to ONNX first, then quantize to INT8 when the target hardware supports INT8 acceleration. Otherwise, stay with FP32 to minimize latency.</a:t>
            </a:r>
            <a:endParaRPr lang="en-US" sz="1300" dirty="0"/>
          </a:p>
          <a:p>
            <a:pPr algn="l" marL="264160" indent="-264160">
              <a:lnSpc>
                <a:spcPct val="124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pretrained compact models such as MobileNetV2 and EfficientNet-lite as student models for distillation on edge devices.</a:t>
            </a:r>
            <a:endParaRPr lang="en-US" sz="1300" dirty="0"/>
          </a:p>
          <a:p>
            <a:pPr algn="l" marL="264160" indent="-264160">
              <a:lnSpc>
                <a:spcPct val="124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 generation tasks, validate GAN outputs with the trained classifier, and use FID and IS as secondary quality checks.</a:t>
            </a:r>
            <a:endParaRPr lang="en-US" sz="1300" dirty="0"/>
          </a:p>
          <a:p>
            <a:pPr algn="l" marL="264160" indent="-264160">
              <a:lnSpc>
                <a:spcPct val="124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Reduce transfer risk by keeping notebooks self-contained and storing large artifacts in cloud snapshots (GCS/S3) with checksums for integrity.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354801" y="5191720"/>
            <a:ext cx="6053978" cy="1108869"/>
          </a:xfrm>
          <a:prstGeom prst="roundRect">
            <a:avLst>
              <a:gd name="adj" fmla="val 6371"/>
            </a:avLst>
          </a:prstGeom>
          <a:solidFill>
            <a:srgbClr val="D2D9F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73" y="5402362"/>
            <a:ext cx="210239" cy="168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01384" y="5378152"/>
            <a:ext cx="5339224" cy="750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Final note: the empirical ceiling is about 95.9%, so the best way to improve further is to curate the dataset—especially by relabeling ambiguous cases.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2026-09-17T14:11:56Z</dcterms:created>
  <dcterms:modified xsi:type="dcterms:W3CDTF">2026-09-17T14:11:56Z</dcterms:modified>
</cp:coreProperties>
</file>