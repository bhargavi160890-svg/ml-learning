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15" roundtripDataSignature="AMtx7mj3nC1+DGrb7OWTmgk+qMMj8mJf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" name="Google Shape;43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" name="Google Shape;75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p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obj">
  <p:cSld name="OBJEC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1"/>
          <p:cNvSpPr txBox="1"/>
          <p:nvPr>
            <p:ph type="ctrTitle"/>
          </p:nvPr>
        </p:nvSpPr>
        <p:spPr>
          <a:xfrm>
            <a:off x="785952" y="308841"/>
            <a:ext cx="619061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EE6C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" type="subTitle"/>
          </p:nvPr>
        </p:nvSpPr>
        <p:spPr>
          <a:xfrm>
            <a:off x="3489121" y="3751290"/>
            <a:ext cx="5316855" cy="882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" name="Google Shape;18;p11" title="New 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04100" y="1"/>
            <a:ext cx="2987900" cy="74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2"/>
          <p:cNvSpPr txBox="1"/>
          <p:nvPr>
            <p:ph type="title"/>
          </p:nvPr>
        </p:nvSpPr>
        <p:spPr>
          <a:xfrm>
            <a:off x="682625" y="308841"/>
            <a:ext cx="6077584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EE6C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" type="body"/>
          </p:nvPr>
        </p:nvSpPr>
        <p:spPr>
          <a:xfrm>
            <a:off x="662684" y="1169204"/>
            <a:ext cx="10633075" cy="331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682625" y="308841"/>
            <a:ext cx="6077584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EE6C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4"/>
          <p:cNvSpPr txBox="1"/>
          <p:nvPr>
            <p:ph type="title"/>
          </p:nvPr>
        </p:nvSpPr>
        <p:spPr>
          <a:xfrm>
            <a:off x="682625" y="308841"/>
            <a:ext cx="6077584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EE6C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682625" y="308841"/>
            <a:ext cx="6077584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rgbClr val="EE6C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662684" y="1169204"/>
            <a:ext cx="10633075" cy="331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  <p:pic>
        <p:nvPicPr>
          <p:cNvPr id="11" name="Google Shape;11;p10" title="New Logo.png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9204100" y="1"/>
            <a:ext cx="2987900" cy="7498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Relationship Id="rId4" Type="http://schemas.openxmlformats.org/officeDocument/2006/relationships/image" Target="../media/image1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9.jpg"/><Relationship Id="rId5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11" Type="http://schemas.openxmlformats.org/officeDocument/2006/relationships/image" Target="../media/image6.png"/><Relationship Id="rId10" Type="http://schemas.openxmlformats.org/officeDocument/2006/relationships/image" Target="../media/image2.png"/><Relationship Id="rId9" Type="http://schemas.openxmlformats.org/officeDocument/2006/relationships/image" Target="../media/image15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Relationship Id="rId7" Type="http://schemas.openxmlformats.org/officeDocument/2006/relationships/image" Target="../media/image1.png"/><Relationship Id="rId8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"/>
          <p:cNvSpPr/>
          <p:nvPr/>
        </p:nvSpPr>
        <p:spPr>
          <a:xfrm>
            <a:off x="9279031" y="4235851"/>
            <a:ext cx="865505" cy="0"/>
          </a:xfrm>
          <a:custGeom>
            <a:rect b="b" l="l" r="r" t="t"/>
            <a:pathLst>
              <a:path extrusionOk="0" h="120000" w="865504">
                <a:moveTo>
                  <a:pt x="0" y="0"/>
                </a:moveTo>
                <a:lnTo>
                  <a:pt x="865471" y="0"/>
                </a:lnTo>
              </a:path>
            </a:pathLst>
          </a:custGeom>
          <a:noFill/>
          <a:ln cap="flat" cmpd="sng" w="761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1765830" y="4235853"/>
            <a:ext cx="865505" cy="0"/>
          </a:xfrm>
          <a:custGeom>
            <a:rect b="b" l="l" r="r" t="t"/>
            <a:pathLst>
              <a:path extrusionOk="0" h="120000" w="865505">
                <a:moveTo>
                  <a:pt x="0" y="0"/>
                </a:moveTo>
                <a:lnTo>
                  <a:pt x="865470" y="0"/>
                </a:lnTo>
              </a:path>
            </a:pathLst>
          </a:custGeom>
          <a:noFill/>
          <a:ln cap="flat" cmpd="sng" w="761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518602" y="1362699"/>
            <a:ext cx="10986770" cy="0"/>
          </a:xfrm>
          <a:custGeom>
            <a:rect b="b" l="l" r="r" t="t"/>
            <a:pathLst>
              <a:path extrusionOk="0" h="120000" w="10986770">
                <a:moveTo>
                  <a:pt x="10986447" y="0"/>
                </a:moveTo>
                <a:lnTo>
                  <a:pt x="0" y="0"/>
                </a:lnTo>
              </a:path>
            </a:pathLst>
          </a:custGeom>
          <a:noFill/>
          <a:ln cap="flat" cmpd="sng" w="76175">
            <a:solidFill>
              <a:srgbClr val="4DB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"/>
          <p:cNvSpPr/>
          <p:nvPr/>
        </p:nvSpPr>
        <p:spPr>
          <a:xfrm>
            <a:off x="518602" y="1857218"/>
            <a:ext cx="10986770" cy="0"/>
          </a:xfrm>
          <a:custGeom>
            <a:rect b="b" l="l" r="r" t="t"/>
            <a:pathLst>
              <a:path extrusionOk="0" h="120000" w="10986770">
                <a:moveTo>
                  <a:pt x="10986447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4DB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518616" y="5786651"/>
            <a:ext cx="10986770" cy="0"/>
          </a:xfrm>
          <a:custGeom>
            <a:rect b="b" l="l" r="r" t="t"/>
            <a:pathLst>
              <a:path extrusionOk="0" h="120000" w="10986770">
                <a:moveTo>
                  <a:pt x="0" y="0"/>
                </a:moveTo>
                <a:lnTo>
                  <a:pt x="10986447" y="0"/>
                </a:lnTo>
              </a:path>
            </a:pathLst>
          </a:custGeom>
          <a:noFill/>
          <a:ln cap="flat" cmpd="sng" w="76175">
            <a:solidFill>
              <a:srgbClr val="4DB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518616" y="5292132"/>
            <a:ext cx="10986770" cy="0"/>
          </a:xfrm>
          <a:custGeom>
            <a:rect b="b" l="l" r="r" t="t"/>
            <a:pathLst>
              <a:path extrusionOk="0" h="120000" w="10986770">
                <a:moveTo>
                  <a:pt x="0" y="0"/>
                </a:moveTo>
                <a:lnTo>
                  <a:pt x="10986447" y="0"/>
                </a:lnTo>
              </a:path>
            </a:pathLst>
          </a:custGeom>
          <a:noFill/>
          <a:ln cap="flat" cmpd="sng" w="9525">
            <a:solidFill>
              <a:srgbClr val="4DB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4279923" y="2560125"/>
            <a:ext cx="3017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E6C00"/>
                </a:solidFill>
                <a:latin typeface="Arial"/>
                <a:ea typeface="Arial"/>
                <a:cs typeface="Arial"/>
                <a:sym typeface="Arial"/>
              </a:rPr>
              <a:t>Hackathon  III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 txBox="1"/>
          <p:nvPr>
            <p:ph idx="1" type="subTitle"/>
          </p:nvPr>
        </p:nvSpPr>
        <p:spPr>
          <a:xfrm>
            <a:off x="2900925" y="3751300"/>
            <a:ext cx="6378300" cy="10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0">
            <a:spAutoFit/>
          </a:bodyPr>
          <a:lstStyle/>
          <a:p>
            <a:pPr indent="-2103755" lvl="0" marL="2115820" marR="5080" rtl="0" algn="l">
              <a:lnSpc>
                <a:spcPct val="10847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950">
                <a:solidFill>
                  <a:srgbClr val="3E3E3E"/>
                </a:solidFill>
              </a:rPr>
              <a:t>Voice based E-Commerce Ordering System</a:t>
            </a:r>
            <a:endParaRPr sz="2950"/>
          </a:p>
        </p:txBody>
      </p:sp>
      <p:pic>
        <p:nvPicPr>
          <p:cNvPr id="53" name="Google Shape;53;p1" title="New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4100" y="1"/>
            <a:ext cx="2987900" cy="74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 txBox="1"/>
          <p:nvPr>
            <p:ph type="title"/>
          </p:nvPr>
        </p:nvSpPr>
        <p:spPr>
          <a:xfrm>
            <a:off x="682625" y="308841"/>
            <a:ext cx="6077584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Speech recognition</a:t>
            </a:r>
            <a:endParaRPr/>
          </a:p>
        </p:txBody>
      </p:sp>
      <p:sp>
        <p:nvSpPr>
          <p:cNvPr id="59" name="Google Shape;59;p2"/>
          <p:cNvSpPr txBox="1"/>
          <p:nvPr/>
        </p:nvSpPr>
        <p:spPr>
          <a:xfrm>
            <a:off x="743580" y="1169204"/>
            <a:ext cx="5270500" cy="2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81940" lvl="0" marL="29464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Recognition and translation of spoken language into text by computers. It is also known as automatic speech recognition (ASR)</a:t>
            </a:r>
            <a:endParaRPr b="0" i="0" sz="32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60" name="Google Shape;60;p2"/>
          <p:cNvGrpSpPr/>
          <p:nvPr/>
        </p:nvGrpSpPr>
        <p:grpSpPr>
          <a:xfrm>
            <a:off x="6900926" y="1740493"/>
            <a:ext cx="5002530" cy="4018279"/>
            <a:chOff x="6900926" y="1740493"/>
            <a:chExt cx="5002530" cy="4018279"/>
          </a:xfrm>
        </p:grpSpPr>
        <p:pic>
          <p:nvPicPr>
            <p:cNvPr id="61" name="Google Shape;61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905689" y="1745256"/>
              <a:ext cx="4992526" cy="40083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" name="Google Shape;62;p2"/>
            <p:cNvSpPr/>
            <p:nvPr/>
          </p:nvSpPr>
          <p:spPr>
            <a:xfrm>
              <a:off x="6900926" y="1740493"/>
              <a:ext cx="5002530" cy="4018279"/>
            </a:xfrm>
            <a:custGeom>
              <a:rect b="b" l="l" r="r" t="t"/>
              <a:pathLst>
                <a:path extrusionOk="0" h="4018279" w="5002530">
                  <a:moveTo>
                    <a:pt x="0" y="0"/>
                  </a:moveTo>
                  <a:lnTo>
                    <a:pt x="5002051" y="0"/>
                  </a:lnTo>
                  <a:lnTo>
                    <a:pt x="5002051" y="4017828"/>
                  </a:lnTo>
                  <a:lnTo>
                    <a:pt x="0" y="401782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EE6C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3" name="Google Shape;6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47731" y="4155194"/>
            <a:ext cx="2603096" cy="1490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 txBox="1"/>
          <p:nvPr>
            <p:ph type="ctrTitle"/>
          </p:nvPr>
        </p:nvSpPr>
        <p:spPr>
          <a:xfrm>
            <a:off x="785952" y="308841"/>
            <a:ext cx="61905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Hackathon-III problem statement</a:t>
            </a:r>
            <a:endParaRPr/>
          </a:p>
        </p:txBody>
      </p:sp>
      <p:sp>
        <p:nvSpPr>
          <p:cNvPr id="69" name="Google Shape;69;p3"/>
          <p:cNvSpPr txBox="1"/>
          <p:nvPr/>
        </p:nvSpPr>
        <p:spPr>
          <a:xfrm>
            <a:off x="689969" y="1540881"/>
            <a:ext cx="10742295" cy="75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and integrate a classifier that can classify voice commands (number utterances) into an e-commerce ordering system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" name="Google Shape;7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819" y="3370045"/>
            <a:ext cx="1275640" cy="1201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11850" y="2536100"/>
            <a:ext cx="4845124" cy="406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69326" y="2531774"/>
            <a:ext cx="4701199" cy="40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 txBox="1"/>
          <p:nvPr>
            <p:ph type="title"/>
          </p:nvPr>
        </p:nvSpPr>
        <p:spPr>
          <a:xfrm>
            <a:off x="682625" y="308841"/>
            <a:ext cx="6077584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Open Filtered Product</a:t>
            </a:r>
            <a:endParaRPr/>
          </a:p>
        </p:txBody>
      </p:sp>
      <p:pic>
        <p:nvPicPr>
          <p:cNvPr id="78" name="Google Shape;7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365098"/>
            <a:ext cx="5410199" cy="2913616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4"/>
          <p:cNvSpPr txBox="1"/>
          <p:nvPr/>
        </p:nvSpPr>
        <p:spPr>
          <a:xfrm>
            <a:off x="6513121" y="2190722"/>
            <a:ext cx="4782820" cy="130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53060" lvl="0" marL="36512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Upon Clicking on the hyperlink the launch the selected store from the filtered product.</a:t>
            </a:r>
            <a:endParaRPr b="0" i="0" sz="2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 txBox="1"/>
          <p:nvPr>
            <p:ph type="title"/>
          </p:nvPr>
        </p:nvSpPr>
        <p:spPr>
          <a:xfrm>
            <a:off x="682625" y="308841"/>
            <a:ext cx="6077584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Overview</a:t>
            </a:r>
            <a:endParaRPr/>
          </a:p>
        </p:txBody>
      </p:sp>
      <p:pic>
        <p:nvPicPr>
          <p:cNvPr id="85" name="Google Shape;8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6547" y="2088028"/>
            <a:ext cx="2689505" cy="165918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5"/>
          <p:cNvSpPr txBox="1"/>
          <p:nvPr/>
        </p:nvSpPr>
        <p:spPr>
          <a:xfrm>
            <a:off x="6291299" y="2112800"/>
            <a:ext cx="2813100" cy="1503300"/>
          </a:xfrm>
          <a:prstGeom prst="rect">
            <a:avLst/>
          </a:prstGeom>
          <a:solidFill>
            <a:srgbClr val="F4F3E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0" lvl="0" marL="85725" marR="1816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Train your model on the dataset and save model (Colab notebook)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7" name="Google Shape;8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8929" y="1142096"/>
            <a:ext cx="3522550" cy="92052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"/>
          <p:cNvSpPr txBox="1"/>
          <p:nvPr/>
        </p:nvSpPr>
        <p:spPr>
          <a:xfrm>
            <a:off x="303692" y="1166859"/>
            <a:ext cx="3433445" cy="831215"/>
          </a:xfrm>
          <a:prstGeom prst="rect">
            <a:avLst/>
          </a:prstGeom>
          <a:solidFill>
            <a:srgbClr val="F4F3E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6025">
            <a:spAutoFit/>
          </a:bodyPr>
          <a:lstStyle/>
          <a:p>
            <a:pPr indent="0" lvl="0" marL="85725" marR="1733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Dataset: Voice samples of number utterances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2125027" y="2101600"/>
            <a:ext cx="12120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Studio data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" name="Google Shape;90;p5"/>
          <p:cNvGrpSpPr/>
          <p:nvPr/>
        </p:nvGrpSpPr>
        <p:grpSpPr>
          <a:xfrm>
            <a:off x="9368540" y="2102722"/>
            <a:ext cx="2689505" cy="2028477"/>
            <a:chOff x="9368540" y="2102722"/>
            <a:chExt cx="2689505" cy="2028477"/>
          </a:xfrm>
        </p:grpSpPr>
        <p:pic>
          <p:nvPicPr>
            <p:cNvPr id="91" name="Google Shape;91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368540" y="2102722"/>
              <a:ext cx="2689505" cy="20284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" name="Google Shape;92;p5"/>
            <p:cNvSpPr/>
            <p:nvPr/>
          </p:nvSpPr>
          <p:spPr>
            <a:xfrm>
              <a:off x="9413302" y="2127485"/>
              <a:ext cx="2600325" cy="1939289"/>
            </a:xfrm>
            <a:custGeom>
              <a:rect b="b" l="l" r="r" t="t"/>
              <a:pathLst>
                <a:path extrusionOk="0" h="1939289" w="2600325">
                  <a:moveTo>
                    <a:pt x="2599979" y="1938951"/>
                  </a:moveTo>
                  <a:lnTo>
                    <a:pt x="0" y="1938951"/>
                  </a:lnTo>
                  <a:lnTo>
                    <a:pt x="0" y="0"/>
                  </a:lnTo>
                  <a:lnTo>
                    <a:pt x="2599979" y="0"/>
                  </a:lnTo>
                  <a:lnTo>
                    <a:pt x="2599979" y="1938951"/>
                  </a:lnTo>
                  <a:close/>
                </a:path>
              </a:pathLst>
            </a:custGeom>
            <a:solidFill>
              <a:srgbClr val="F4F3E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9413302" y="2127485"/>
              <a:ext cx="2600325" cy="1939289"/>
            </a:xfrm>
            <a:custGeom>
              <a:rect b="b" l="l" r="r" t="t"/>
              <a:pathLst>
                <a:path extrusionOk="0" h="1939289" w="2600325">
                  <a:moveTo>
                    <a:pt x="0" y="0"/>
                  </a:moveTo>
                  <a:lnTo>
                    <a:pt x="2599979" y="0"/>
                  </a:lnTo>
                  <a:lnTo>
                    <a:pt x="2599979" y="1938951"/>
                  </a:lnTo>
                  <a:lnTo>
                    <a:pt x="0" y="193895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" name="Google Shape;94;p5"/>
          <p:cNvSpPr txBox="1"/>
          <p:nvPr/>
        </p:nvSpPr>
        <p:spPr>
          <a:xfrm>
            <a:off x="9486325" y="2140700"/>
            <a:ext cx="2426700" cy="1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2432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Deploy on the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E-Commerce Application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Interface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on the Server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95" name="Google Shape;95;p5"/>
          <p:cNvGrpSpPr/>
          <p:nvPr/>
        </p:nvGrpSpPr>
        <p:grpSpPr>
          <a:xfrm>
            <a:off x="2998678" y="2929379"/>
            <a:ext cx="338455" cy="205740"/>
            <a:chOff x="2998678" y="2929379"/>
            <a:chExt cx="338455" cy="205740"/>
          </a:xfrm>
        </p:grpSpPr>
        <p:sp>
          <p:nvSpPr>
            <p:cNvPr id="96" name="Google Shape;96;p5"/>
            <p:cNvSpPr/>
            <p:nvPr/>
          </p:nvSpPr>
          <p:spPr>
            <a:xfrm>
              <a:off x="2998678" y="2929379"/>
              <a:ext cx="338455" cy="205740"/>
            </a:xfrm>
            <a:custGeom>
              <a:rect b="b" l="l" r="r" t="t"/>
              <a:pathLst>
                <a:path extrusionOk="0" h="205739" w="338454">
                  <a:moveTo>
                    <a:pt x="235026" y="205647"/>
                  </a:moveTo>
                  <a:lnTo>
                    <a:pt x="235026" y="154235"/>
                  </a:lnTo>
                  <a:lnTo>
                    <a:pt x="0" y="154235"/>
                  </a:lnTo>
                  <a:lnTo>
                    <a:pt x="0" y="51411"/>
                  </a:lnTo>
                  <a:lnTo>
                    <a:pt x="235026" y="51411"/>
                  </a:lnTo>
                  <a:lnTo>
                    <a:pt x="235026" y="0"/>
                  </a:lnTo>
                  <a:lnTo>
                    <a:pt x="337850" y="102823"/>
                  </a:lnTo>
                  <a:lnTo>
                    <a:pt x="235026" y="205647"/>
                  </a:lnTo>
                  <a:close/>
                </a:path>
              </a:pathLst>
            </a:custGeom>
            <a:solidFill>
              <a:srgbClr val="EE6C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2998678" y="2929379"/>
              <a:ext cx="338455" cy="205740"/>
            </a:xfrm>
            <a:custGeom>
              <a:rect b="b" l="l" r="r" t="t"/>
              <a:pathLst>
                <a:path extrusionOk="0" h="205739" w="338454">
                  <a:moveTo>
                    <a:pt x="0" y="51411"/>
                  </a:moveTo>
                  <a:lnTo>
                    <a:pt x="235026" y="51411"/>
                  </a:lnTo>
                  <a:lnTo>
                    <a:pt x="235026" y="0"/>
                  </a:lnTo>
                  <a:lnTo>
                    <a:pt x="337850" y="102823"/>
                  </a:lnTo>
                  <a:lnTo>
                    <a:pt x="235026" y="205647"/>
                  </a:lnTo>
                  <a:lnTo>
                    <a:pt x="235026" y="154235"/>
                  </a:lnTo>
                  <a:lnTo>
                    <a:pt x="0" y="154235"/>
                  </a:lnTo>
                  <a:lnTo>
                    <a:pt x="0" y="51411"/>
                  </a:lnTo>
                  <a:close/>
                </a:path>
              </a:pathLst>
            </a:custGeom>
            <a:noFill/>
            <a:ln cap="flat" cmpd="sng" w="25375">
              <a:solidFill>
                <a:srgbClr val="AE4E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" name="Google Shape;98;p5"/>
          <p:cNvGrpSpPr/>
          <p:nvPr/>
        </p:nvGrpSpPr>
        <p:grpSpPr>
          <a:xfrm>
            <a:off x="9012749" y="2929379"/>
            <a:ext cx="279400" cy="220345"/>
            <a:chOff x="9012749" y="2929379"/>
            <a:chExt cx="279400" cy="220345"/>
          </a:xfrm>
        </p:grpSpPr>
        <p:sp>
          <p:nvSpPr>
            <p:cNvPr id="99" name="Google Shape;99;p5"/>
            <p:cNvSpPr/>
            <p:nvPr/>
          </p:nvSpPr>
          <p:spPr>
            <a:xfrm>
              <a:off x="9012749" y="2929379"/>
              <a:ext cx="279400" cy="220345"/>
            </a:xfrm>
            <a:custGeom>
              <a:rect b="b" l="l" r="r" t="t"/>
              <a:pathLst>
                <a:path extrusionOk="0" h="220344" w="279400">
                  <a:moveTo>
                    <a:pt x="168924" y="220336"/>
                  </a:moveTo>
                  <a:lnTo>
                    <a:pt x="168924" y="165252"/>
                  </a:lnTo>
                  <a:lnTo>
                    <a:pt x="0" y="165252"/>
                  </a:lnTo>
                  <a:lnTo>
                    <a:pt x="0" y="55084"/>
                  </a:lnTo>
                  <a:lnTo>
                    <a:pt x="168924" y="55084"/>
                  </a:lnTo>
                  <a:lnTo>
                    <a:pt x="168924" y="0"/>
                  </a:lnTo>
                  <a:lnTo>
                    <a:pt x="279092" y="110168"/>
                  </a:lnTo>
                  <a:lnTo>
                    <a:pt x="168924" y="220336"/>
                  </a:lnTo>
                  <a:close/>
                </a:path>
              </a:pathLst>
            </a:custGeom>
            <a:solidFill>
              <a:srgbClr val="EE6C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9012749" y="2929379"/>
              <a:ext cx="279400" cy="220345"/>
            </a:xfrm>
            <a:custGeom>
              <a:rect b="b" l="l" r="r" t="t"/>
              <a:pathLst>
                <a:path extrusionOk="0" h="220344" w="279400">
                  <a:moveTo>
                    <a:pt x="0" y="55084"/>
                  </a:moveTo>
                  <a:lnTo>
                    <a:pt x="168924" y="55084"/>
                  </a:lnTo>
                  <a:lnTo>
                    <a:pt x="168924" y="0"/>
                  </a:lnTo>
                  <a:lnTo>
                    <a:pt x="279092" y="110168"/>
                  </a:lnTo>
                  <a:lnTo>
                    <a:pt x="168924" y="220336"/>
                  </a:lnTo>
                  <a:lnTo>
                    <a:pt x="168924" y="165252"/>
                  </a:lnTo>
                  <a:lnTo>
                    <a:pt x="0" y="165252"/>
                  </a:lnTo>
                  <a:lnTo>
                    <a:pt x="0" y="55084"/>
                  </a:lnTo>
                  <a:close/>
                </a:path>
              </a:pathLst>
            </a:custGeom>
            <a:noFill/>
            <a:ln cap="flat" cmpd="sng" w="25375">
              <a:solidFill>
                <a:srgbClr val="AE4E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1" name="Google Shape;10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91954" y="2088028"/>
            <a:ext cx="2075006" cy="165918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5"/>
          <p:cNvSpPr txBox="1"/>
          <p:nvPr/>
        </p:nvSpPr>
        <p:spPr>
          <a:xfrm>
            <a:off x="3736726" y="2112800"/>
            <a:ext cx="2183100" cy="1503300"/>
          </a:xfrm>
          <a:prstGeom prst="rect">
            <a:avLst/>
          </a:prstGeom>
          <a:solidFill>
            <a:srgbClr val="F4F3E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0" lvl="0" marL="85090" marR="6083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Extract features (Colab notebook)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03" name="Google Shape;103;p5"/>
          <p:cNvGrpSpPr/>
          <p:nvPr/>
        </p:nvGrpSpPr>
        <p:grpSpPr>
          <a:xfrm>
            <a:off x="5829553" y="2932796"/>
            <a:ext cx="338455" cy="205740"/>
            <a:chOff x="5829553" y="2932796"/>
            <a:chExt cx="338455" cy="205740"/>
          </a:xfrm>
        </p:grpSpPr>
        <p:sp>
          <p:nvSpPr>
            <p:cNvPr id="104" name="Google Shape;104;p5"/>
            <p:cNvSpPr/>
            <p:nvPr/>
          </p:nvSpPr>
          <p:spPr>
            <a:xfrm>
              <a:off x="5829553" y="2932796"/>
              <a:ext cx="338455" cy="205740"/>
            </a:xfrm>
            <a:custGeom>
              <a:rect b="b" l="l" r="r" t="t"/>
              <a:pathLst>
                <a:path extrusionOk="0" h="205739" w="338454">
                  <a:moveTo>
                    <a:pt x="235026" y="205647"/>
                  </a:moveTo>
                  <a:lnTo>
                    <a:pt x="235026" y="154235"/>
                  </a:lnTo>
                  <a:lnTo>
                    <a:pt x="0" y="154235"/>
                  </a:lnTo>
                  <a:lnTo>
                    <a:pt x="0" y="51411"/>
                  </a:lnTo>
                  <a:lnTo>
                    <a:pt x="235026" y="51411"/>
                  </a:lnTo>
                  <a:lnTo>
                    <a:pt x="235026" y="0"/>
                  </a:lnTo>
                  <a:lnTo>
                    <a:pt x="337850" y="102823"/>
                  </a:lnTo>
                  <a:lnTo>
                    <a:pt x="235026" y="205647"/>
                  </a:lnTo>
                  <a:close/>
                </a:path>
              </a:pathLst>
            </a:custGeom>
            <a:solidFill>
              <a:srgbClr val="EE6C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5829553" y="2932796"/>
              <a:ext cx="338455" cy="205740"/>
            </a:xfrm>
            <a:custGeom>
              <a:rect b="b" l="l" r="r" t="t"/>
              <a:pathLst>
                <a:path extrusionOk="0" h="205739" w="338454">
                  <a:moveTo>
                    <a:pt x="0" y="51411"/>
                  </a:moveTo>
                  <a:lnTo>
                    <a:pt x="235026" y="51411"/>
                  </a:lnTo>
                  <a:lnTo>
                    <a:pt x="235026" y="0"/>
                  </a:lnTo>
                  <a:lnTo>
                    <a:pt x="337850" y="102823"/>
                  </a:lnTo>
                  <a:lnTo>
                    <a:pt x="235026" y="205647"/>
                  </a:lnTo>
                  <a:lnTo>
                    <a:pt x="235026" y="154235"/>
                  </a:lnTo>
                  <a:lnTo>
                    <a:pt x="0" y="154235"/>
                  </a:lnTo>
                  <a:lnTo>
                    <a:pt x="0" y="51411"/>
                  </a:lnTo>
                  <a:close/>
                </a:path>
              </a:pathLst>
            </a:custGeom>
            <a:noFill/>
            <a:ln cap="flat" cmpd="sng" w="25375">
              <a:solidFill>
                <a:srgbClr val="AE4E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6" name="Google Shape;106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5713" y="2472053"/>
            <a:ext cx="1888473" cy="92048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5"/>
          <p:cNvSpPr txBox="1"/>
          <p:nvPr/>
        </p:nvSpPr>
        <p:spPr>
          <a:xfrm>
            <a:off x="910475" y="2496825"/>
            <a:ext cx="2075100" cy="764400"/>
          </a:xfrm>
          <a:prstGeom prst="rect">
            <a:avLst/>
          </a:prstGeom>
          <a:solidFill>
            <a:srgbClr val="F4F3E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0" lvl="0" marL="85725" marR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Studio Data Team Data</a:t>
            </a:r>
            <a:endParaRPr b="0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08" name="Google Shape;108;p5"/>
          <p:cNvGrpSpPr/>
          <p:nvPr/>
        </p:nvGrpSpPr>
        <p:grpSpPr>
          <a:xfrm>
            <a:off x="1705968" y="2061384"/>
            <a:ext cx="178328" cy="1722732"/>
            <a:chOff x="1705968" y="2061384"/>
            <a:chExt cx="178328" cy="1722732"/>
          </a:xfrm>
        </p:grpSpPr>
        <p:sp>
          <p:nvSpPr>
            <p:cNvPr id="109" name="Google Shape;109;p5"/>
            <p:cNvSpPr/>
            <p:nvPr/>
          </p:nvSpPr>
          <p:spPr>
            <a:xfrm>
              <a:off x="1705968" y="2061384"/>
              <a:ext cx="177800" cy="338455"/>
            </a:xfrm>
            <a:custGeom>
              <a:rect b="b" l="l" r="r" t="t"/>
              <a:pathLst>
                <a:path extrusionOk="0" h="338455" w="177800">
                  <a:moveTo>
                    <a:pt x="88707" y="337850"/>
                  </a:moveTo>
                  <a:lnTo>
                    <a:pt x="0" y="249143"/>
                  </a:lnTo>
                  <a:lnTo>
                    <a:pt x="44353" y="249143"/>
                  </a:lnTo>
                  <a:lnTo>
                    <a:pt x="44353" y="0"/>
                  </a:lnTo>
                  <a:lnTo>
                    <a:pt x="133061" y="0"/>
                  </a:lnTo>
                  <a:lnTo>
                    <a:pt x="133061" y="249143"/>
                  </a:lnTo>
                  <a:lnTo>
                    <a:pt x="177414" y="249143"/>
                  </a:lnTo>
                  <a:lnTo>
                    <a:pt x="88707" y="337850"/>
                  </a:lnTo>
                  <a:close/>
                </a:path>
              </a:pathLst>
            </a:custGeom>
            <a:solidFill>
              <a:srgbClr val="EE6C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1705968" y="2061384"/>
              <a:ext cx="177800" cy="338455"/>
            </a:xfrm>
            <a:custGeom>
              <a:rect b="b" l="l" r="r" t="t"/>
              <a:pathLst>
                <a:path extrusionOk="0" h="338455" w="177800">
                  <a:moveTo>
                    <a:pt x="133061" y="0"/>
                  </a:moveTo>
                  <a:lnTo>
                    <a:pt x="133061" y="249143"/>
                  </a:lnTo>
                  <a:lnTo>
                    <a:pt x="177414" y="249143"/>
                  </a:lnTo>
                  <a:lnTo>
                    <a:pt x="88707" y="337850"/>
                  </a:lnTo>
                  <a:lnTo>
                    <a:pt x="0" y="249143"/>
                  </a:lnTo>
                  <a:lnTo>
                    <a:pt x="44353" y="249143"/>
                  </a:lnTo>
                  <a:lnTo>
                    <a:pt x="44353" y="0"/>
                  </a:lnTo>
                  <a:lnTo>
                    <a:pt x="133061" y="0"/>
                  </a:lnTo>
                  <a:close/>
                </a:path>
              </a:pathLst>
            </a:custGeom>
            <a:noFill/>
            <a:ln cap="flat" cmpd="sng" w="25375">
              <a:solidFill>
                <a:srgbClr val="AE4E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1706496" y="3445661"/>
              <a:ext cx="177800" cy="338455"/>
            </a:xfrm>
            <a:custGeom>
              <a:rect b="b" l="l" r="r" t="t"/>
              <a:pathLst>
                <a:path extrusionOk="0" h="338454" w="177800">
                  <a:moveTo>
                    <a:pt x="133061" y="337850"/>
                  </a:moveTo>
                  <a:lnTo>
                    <a:pt x="44353" y="337850"/>
                  </a:lnTo>
                  <a:lnTo>
                    <a:pt x="44353" y="88707"/>
                  </a:lnTo>
                  <a:lnTo>
                    <a:pt x="0" y="88707"/>
                  </a:lnTo>
                  <a:lnTo>
                    <a:pt x="88707" y="0"/>
                  </a:lnTo>
                  <a:lnTo>
                    <a:pt x="177414" y="88707"/>
                  </a:lnTo>
                  <a:lnTo>
                    <a:pt x="133061" y="88707"/>
                  </a:lnTo>
                  <a:lnTo>
                    <a:pt x="133061" y="337850"/>
                  </a:lnTo>
                  <a:close/>
                </a:path>
              </a:pathLst>
            </a:custGeom>
            <a:solidFill>
              <a:srgbClr val="EE6C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1706496" y="3445661"/>
              <a:ext cx="177800" cy="338455"/>
            </a:xfrm>
            <a:custGeom>
              <a:rect b="b" l="l" r="r" t="t"/>
              <a:pathLst>
                <a:path extrusionOk="0" h="338454" w="177800">
                  <a:moveTo>
                    <a:pt x="44353" y="337850"/>
                  </a:moveTo>
                  <a:lnTo>
                    <a:pt x="44353" y="88707"/>
                  </a:lnTo>
                  <a:lnTo>
                    <a:pt x="0" y="88707"/>
                  </a:lnTo>
                  <a:lnTo>
                    <a:pt x="88707" y="0"/>
                  </a:lnTo>
                  <a:lnTo>
                    <a:pt x="177414" y="88707"/>
                  </a:lnTo>
                  <a:lnTo>
                    <a:pt x="133061" y="88707"/>
                  </a:lnTo>
                  <a:lnTo>
                    <a:pt x="133061" y="337850"/>
                  </a:lnTo>
                  <a:lnTo>
                    <a:pt x="44353" y="337850"/>
                  </a:lnTo>
                  <a:close/>
                </a:path>
              </a:pathLst>
            </a:custGeom>
            <a:noFill/>
            <a:ln cap="flat" cmpd="sng" w="25375">
              <a:solidFill>
                <a:srgbClr val="AE4E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p5"/>
          <p:cNvSpPr txBox="1"/>
          <p:nvPr/>
        </p:nvSpPr>
        <p:spPr>
          <a:xfrm>
            <a:off x="1938697" y="3544625"/>
            <a:ext cx="11280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data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4" name="Google Shape;114;p5"/>
          <p:cNvGrpSpPr/>
          <p:nvPr/>
        </p:nvGrpSpPr>
        <p:grpSpPr>
          <a:xfrm>
            <a:off x="9104528" y="4131195"/>
            <a:ext cx="2953520" cy="2665355"/>
            <a:chOff x="9167803" y="3770345"/>
            <a:chExt cx="2953520" cy="2665355"/>
          </a:xfrm>
        </p:grpSpPr>
        <p:sp>
          <p:nvSpPr>
            <p:cNvPr id="115" name="Google Shape;115;p5"/>
            <p:cNvSpPr/>
            <p:nvPr/>
          </p:nvSpPr>
          <p:spPr>
            <a:xfrm>
              <a:off x="10535877" y="3770345"/>
              <a:ext cx="177800" cy="338455"/>
            </a:xfrm>
            <a:custGeom>
              <a:rect b="b" l="l" r="r" t="t"/>
              <a:pathLst>
                <a:path extrusionOk="0" h="338454" w="177800">
                  <a:moveTo>
                    <a:pt x="88706" y="337850"/>
                  </a:moveTo>
                  <a:lnTo>
                    <a:pt x="0" y="249143"/>
                  </a:lnTo>
                  <a:lnTo>
                    <a:pt x="44353" y="249143"/>
                  </a:lnTo>
                  <a:lnTo>
                    <a:pt x="44353" y="0"/>
                  </a:lnTo>
                  <a:lnTo>
                    <a:pt x="133060" y="0"/>
                  </a:lnTo>
                  <a:lnTo>
                    <a:pt x="133060" y="249143"/>
                  </a:lnTo>
                  <a:lnTo>
                    <a:pt x="177414" y="249143"/>
                  </a:lnTo>
                  <a:lnTo>
                    <a:pt x="88706" y="337850"/>
                  </a:lnTo>
                  <a:close/>
                </a:path>
              </a:pathLst>
            </a:custGeom>
            <a:solidFill>
              <a:srgbClr val="EE6C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10535877" y="3770345"/>
              <a:ext cx="177800" cy="338455"/>
            </a:xfrm>
            <a:custGeom>
              <a:rect b="b" l="l" r="r" t="t"/>
              <a:pathLst>
                <a:path extrusionOk="0" h="338454" w="177800">
                  <a:moveTo>
                    <a:pt x="133060" y="0"/>
                  </a:moveTo>
                  <a:lnTo>
                    <a:pt x="133060" y="249143"/>
                  </a:lnTo>
                  <a:lnTo>
                    <a:pt x="177414" y="249143"/>
                  </a:lnTo>
                  <a:lnTo>
                    <a:pt x="88706" y="337850"/>
                  </a:lnTo>
                  <a:lnTo>
                    <a:pt x="0" y="249143"/>
                  </a:lnTo>
                  <a:lnTo>
                    <a:pt x="44353" y="249143"/>
                  </a:lnTo>
                  <a:lnTo>
                    <a:pt x="44353" y="0"/>
                  </a:lnTo>
                  <a:lnTo>
                    <a:pt x="133060" y="0"/>
                  </a:lnTo>
                  <a:close/>
                </a:path>
              </a:pathLst>
            </a:custGeom>
            <a:noFill/>
            <a:ln cap="flat" cmpd="sng" w="25375">
              <a:solidFill>
                <a:srgbClr val="AE4E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7" name="Google Shape;117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167803" y="4103211"/>
              <a:ext cx="2953520" cy="23324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9413302" y="4330711"/>
              <a:ext cx="2462519" cy="18414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5"/>
            <p:cNvSpPr/>
            <p:nvPr/>
          </p:nvSpPr>
          <p:spPr>
            <a:xfrm>
              <a:off x="9318052" y="4235461"/>
              <a:ext cx="2653030" cy="2032000"/>
            </a:xfrm>
            <a:custGeom>
              <a:rect b="b" l="l" r="r" t="t"/>
              <a:pathLst>
                <a:path extrusionOk="0" h="2032000" w="2653029">
                  <a:moveTo>
                    <a:pt x="0" y="0"/>
                  </a:moveTo>
                  <a:lnTo>
                    <a:pt x="2653019" y="0"/>
                  </a:lnTo>
                  <a:lnTo>
                    <a:pt x="2653019" y="2031988"/>
                  </a:lnTo>
                  <a:lnTo>
                    <a:pt x="0" y="203198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904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" name="Google Shape;120;p5"/>
          <p:cNvGrpSpPr/>
          <p:nvPr/>
        </p:nvGrpSpPr>
        <p:grpSpPr>
          <a:xfrm>
            <a:off x="53865" y="3847420"/>
            <a:ext cx="3512164" cy="2893060"/>
            <a:chOff x="58190" y="3816170"/>
            <a:chExt cx="3512164" cy="2893060"/>
          </a:xfrm>
        </p:grpSpPr>
        <p:pic>
          <p:nvPicPr>
            <p:cNvPr id="121" name="Google Shape;121;p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8190" y="3816170"/>
              <a:ext cx="3512164" cy="28930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" name="Google Shape;122;p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03689" y="4043670"/>
              <a:ext cx="3021163" cy="24020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5"/>
            <p:cNvSpPr/>
            <p:nvPr/>
          </p:nvSpPr>
          <p:spPr>
            <a:xfrm>
              <a:off x="208440" y="3948420"/>
              <a:ext cx="3211830" cy="2592705"/>
            </a:xfrm>
            <a:custGeom>
              <a:rect b="b" l="l" r="r" t="t"/>
              <a:pathLst>
                <a:path extrusionOk="0" h="2592704" w="3211829">
                  <a:moveTo>
                    <a:pt x="0" y="0"/>
                  </a:moveTo>
                  <a:lnTo>
                    <a:pt x="3211663" y="0"/>
                  </a:lnTo>
                  <a:lnTo>
                    <a:pt x="3211663" y="2592559"/>
                  </a:lnTo>
                  <a:lnTo>
                    <a:pt x="0" y="259255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904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 txBox="1"/>
          <p:nvPr>
            <p:ph type="title"/>
          </p:nvPr>
        </p:nvSpPr>
        <p:spPr>
          <a:xfrm>
            <a:off x="682625" y="308841"/>
            <a:ext cx="6077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Tasks (40 Marks)</a:t>
            </a:r>
            <a:endParaRPr/>
          </a:p>
        </p:txBody>
      </p:sp>
      <p:sp>
        <p:nvSpPr>
          <p:cNvPr id="129" name="Google Shape;129;p6"/>
          <p:cNvSpPr txBox="1"/>
          <p:nvPr/>
        </p:nvSpPr>
        <p:spPr>
          <a:xfrm>
            <a:off x="743580" y="1169204"/>
            <a:ext cx="10690200" cy="41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81940" lvl="0" marL="2946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Stage 0 - Obtain Features from Audio samples</a:t>
            </a:r>
            <a:endParaRPr b="0" i="0" sz="32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0" i="0" sz="33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1940" lvl="0" marL="294640" marR="7632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Stage 1 - Define and train a CNN model on Studio data and deploy the model in the server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(22 Marks)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t/>
            </a:r>
            <a:endParaRPr b="0" i="0" sz="4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0" marL="29464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Stage 2 - Collect your voice samples (team data) and refine the classifier trained on Studio_data. Deploy the model in the server. </a:t>
            </a: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(18 Marks)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 txBox="1"/>
          <p:nvPr>
            <p:ph type="title"/>
          </p:nvPr>
        </p:nvSpPr>
        <p:spPr>
          <a:xfrm>
            <a:off x="682625" y="308841"/>
            <a:ext cx="6077584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Evaluation</a:t>
            </a:r>
            <a:endParaRPr/>
          </a:p>
        </p:txBody>
      </p:sp>
      <p:sp>
        <p:nvSpPr>
          <p:cNvPr id="135" name="Google Shape;135;p7"/>
          <p:cNvSpPr txBox="1"/>
          <p:nvPr/>
        </p:nvSpPr>
        <p:spPr>
          <a:xfrm>
            <a:off x="730875" y="1092999"/>
            <a:ext cx="10485000" cy="37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900">
            <a:spAutoFit/>
          </a:bodyPr>
          <a:lstStyle/>
          <a:p>
            <a:pPr indent="-281940" lvl="0" marL="3073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Hackathon starts on </a:t>
            </a:r>
            <a:r>
              <a:rPr lang="en-US" sz="3200">
                <a:latin typeface="Trebuchet MS"/>
                <a:ea typeface="Trebuchet MS"/>
                <a:cs typeface="Trebuchet MS"/>
                <a:sym typeface="Trebuchet MS"/>
              </a:rPr>
              <a:t>Aug</a:t>
            </a:r>
            <a:r>
              <a:rPr b="0" i="0" lang="en-US" sz="3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3200">
                <a:latin typeface="Trebuchet MS"/>
                <a:ea typeface="Trebuchet MS"/>
                <a:cs typeface="Trebuchet MS"/>
                <a:sym typeface="Trebuchet MS"/>
              </a:rPr>
              <a:t>24</a:t>
            </a:r>
            <a:r>
              <a:rPr b="0" i="0" lang="en-US" sz="3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, 2026 and ends on </a:t>
            </a:r>
            <a:r>
              <a:rPr lang="en-US" sz="3200">
                <a:latin typeface="Trebuchet MS"/>
                <a:ea typeface="Trebuchet MS"/>
                <a:cs typeface="Trebuchet MS"/>
                <a:sym typeface="Trebuchet MS"/>
              </a:rPr>
              <a:t>Sep</a:t>
            </a:r>
            <a:r>
              <a:rPr b="0" i="0" lang="en-US" sz="3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0</a:t>
            </a:r>
            <a:r>
              <a:rPr lang="en-US" sz="3200">
                <a:latin typeface="Trebuchet MS"/>
                <a:ea typeface="Trebuchet MS"/>
                <a:cs typeface="Trebuchet MS"/>
                <a:sym typeface="Trebuchet MS"/>
              </a:rPr>
              <a:t>6</a:t>
            </a:r>
            <a:r>
              <a:rPr b="0" i="0" lang="en-US" sz="3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, 2026.</a:t>
            </a:r>
            <a:endParaRPr b="0" i="0" sz="32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1940" lvl="0" marL="30734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Server credentials will be provided by </a:t>
            </a:r>
            <a:r>
              <a:rPr lang="en-US" sz="3200">
                <a:latin typeface="Trebuchet MS"/>
                <a:ea typeface="Trebuchet MS"/>
                <a:cs typeface="Trebuchet MS"/>
                <a:sym typeface="Trebuchet MS"/>
              </a:rPr>
              <a:t>coming Tuesday EOD</a:t>
            </a:r>
            <a:r>
              <a:rPr b="0" i="0" lang="en-US" sz="3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b="0" i="0" sz="32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1940" lvl="0" marL="30734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Presentations starts from 4:00 PM on </a:t>
            </a:r>
            <a:r>
              <a:rPr lang="en-US" sz="3200">
                <a:latin typeface="Trebuchet MS"/>
                <a:ea typeface="Trebuchet MS"/>
                <a:cs typeface="Trebuchet MS"/>
                <a:sym typeface="Trebuchet MS"/>
              </a:rPr>
              <a:t>Sep 06</a:t>
            </a:r>
            <a:r>
              <a:rPr lang="en-US" sz="3200">
                <a:latin typeface="Trebuchet MS"/>
                <a:ea typeface="Trebuchet MS"/>
                <a:cs typeface="Trebuchet MS"/>
                <a:sym typeface="Trebuchet MS"/>
              </a:rPr>
              <a:t>, 2026.</a:t>
            </a:r>
            <a:endParaRPr b="0" i="0" sz="32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06070" lvl="1" marL="707390" marR="0" rtl="0" algn="l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Prepare for 10 mins presentation</a:t>
            </a:r>
            <a:endParaRPr b="0" i="0" sz="2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06070" lvl="1" marL="70739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 marks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will be awarded for Presentation</a:t>
            </a:r>
            <a:endParaRPr b="0" i="0" sz="28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 txBox="1"/>
          <p:nvPr>
            <p:ph type="title"/>
          </p:nvPr>
        </p:nvSpPr>
        <p:spPr>
          <a:xfrm>
            <a:off x="682625" y="308841"/>
            <a:ext cx="6077584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Deployment Evaluation Criteria:</a:t>
            </a:r>
            <a:endParaRPr/>
          </a:p>
        </p:txBody>
      </p:sp>
      <p:sp>
        <p:nvSpPr>
          <p:cNvPr id="141" name="Google Shape;141;p8"/>
          <p:cNvSpPr txBox="1"/>
          <p:nvPr>
            <p:ph idx="1" type="body"/>
          </p:nvPr>
        </p:nvSpPr>
        <p:spPr>
          <a:xfrm>
            <a:off x="682634" y="1354554"/>
            <a:ext cx="10633200" cy="38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82575" lvl="0" marL="3752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There are two stages in the E-Commerce ordering application</a:t>
            </a:r>
            <a:endParaRPr/>
          </a:p>
          <a:p>
            <a:pPr indent="-306704" lvl="1" marL="77533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Select the product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06704" lvl="1" marL="7753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Select the store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3250"/>
          </a:p>
          <a:p>
            <a:pPr indent="-306069" lvl="0" marL="318135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/>
              <a:t>If both the stages are cleared as per the evaluation criteria you will get complete marks. Otherwise, you will see a reduction in the marks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/>
          <p:nvPr>
            <p:ph type="title"/>
          </p:nvPr>
        </p:nvSpPr>
        <p:spPr>
          <a:xfrm>
            <a:off x="2962025" y="2472227"/>
            <a:ext cx="62466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75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Good luck for the Hackathon!</a:t>
            </a:r>
            <a:endParaRPr sz="375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47" name="Google Shape;14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74700" y="133550"/>
            <a:ext cx="2781585" cy="74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2022-09-02T07:04:16Z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