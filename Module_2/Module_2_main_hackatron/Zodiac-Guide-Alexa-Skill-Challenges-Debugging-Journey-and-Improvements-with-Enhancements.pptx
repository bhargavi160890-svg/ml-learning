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6.svg" ContentType="image/svg+xml"/>
  <Override PartName="/ppt/media/image18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3" r:id="rId19"/>
    <p:sldId id="272" r:id="rId20"/>
    <p:sldId id="274" r:id="rId21"/>
    <p:sldId id="269" r:id="rId22"/>
  </p:sldIdLst>
  <p:sldSz cx="9144000" cy="5143500" type="screen16x9"/>
  <p:notesSz cx="5143500" cy="9144000"/>
  <p:embeddedFontLst>
    <p:embeddedFont>
      <p:font typeface="Corben" panose="020F0503020000020004" pitchFamily="34" charset="0"/>
      <p:regular r:id="rId26"/>
    </p:embeddedFont>
    <p:embeddedFont>
      <p:font typeface="Corben" panose="020F0503020000020004" pitchFamily="34" charset="-122"/>
      <p:regular r:id="rId27"/>
    </p:embeddedFont>
    <p:embeddedFont>
      <p:font typeface="Corben" panose="020F0503020000020004" pitchFamily="34" charset="-120"/>
      <p:regular r:id="rId28"/>
    </p:embeddedFont>
    <p:embeddedFont>
      <p:font typeface="Nobile" panose="02000503050000020004" pitchFamily="34" charset="0"/>
      <p:regular r:id="rId29"/>
    </p:embeddedFont>
    <p:embeddedFont>
      <p:font typeface="Nobile" panose="02000503050000020004" pitchFamily="34" charset="-122"/>
      <p:regular r:id="rId30"/>
    </p:embeddedFont>
    <p:embeddedFont>
      <p:font typeface="Nobile" panose="02000503050000020004" pitchFamily="34" charset="-120"/>
      <p:regular r:id="rId31"/>
    </p:embeddedFont>
    <p:embeddedFont>
      <p:font typeface="Nobile Bold" panose="02000503050000020004" pitchFamily="34" charset="0"/>
      <p:bold r:id="rId32"/>
    </p:embeddedFont>
    <p:embeddedFont>
      <p:font typeface="Nobile Bold" panose="02000503050000020004" pitchFamily="34" charset="-122"/>
      <p:bold r:id="rId33"/>
    </p:embeddedFont>
    <p:embeddedFont>
      <p:font typeface="Nobile Bold" panose="02000503050000020004" pitchFamily="34" charset="-120"/>
      <p:bold r:id="rId34"/>
    </p:embeddedFont>
    <p:embeddedFont>
      <p:font typeface="Consolas" panose="020B0609020204030204" pitchFamily="34" charset="0"/>
      <p:regular r:id="rId35"/>
      <p:bold r:id="rId36"/>
      <p:italic r:id="rId37"/>
      <p:boldItalic r:id="rId38"/>
    </p:embeddedFont>
    <p:embeddedFont>
      <p:font typeface="Consolas" panose="020B0609020204030204" pitchFamily="34" charset="-122"/>
      <p:regular r:id="rId39"/>
    </p:embeddedFont>
    <p:embeddedFont>
      <p:font typeface="Consolas" panose="020B0609020204030204" pitchFamily="34" charset="-120"/>
      <p:regular r:id="rId40"/>
    </p:embeddedFont>
    <p:embeddedFont>
      <p:font typeface="Corben" panose="020F0503020000020004"/>
      <p:regular r:id="rId41"/>
    </p:embeddedFont>
    <p:embeddedFont>
      <p:font typeface="Nobile" panose="02000503050000020004"/>
      <p:regular r:id="rId42"/>
    </p:embeddedFont>
    <p:embeddedFont>
      <p:font typeface="Calibri" panose="020F0502020204030204" charset="0"/>
      <p:regular r:id="rId43"/>
      <p:bold r:id="rId44"/>
      <p:italic r:id="rId45"/>
      <p:boldItalic r:id="rId46"/>
    </p:embeddedFont>
    <p:embeddedFont>
      <p:font typeface="Calibri Light" panose="020F0302020204030204" charset="0"/>
      <p:regular r:id="rId47"/>
      <p:italic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font" Target="fonts/font23.fntdata"/><Relationship Id="rId47" Type="http://schemas.openxmlformats.org/officeDocument/2006/relationships/font" Target="fonts/font22.fntdata"/><Relationship Id="rId46" Type="http://schemas.openxmlformats.org/officeDocument/2006/relationships/font" Target="fonts/font21.fntdata"/><Relationship Id="rId45" Type="http://schemas.openxmlformats.org/officeDocument/2006/relationships/font" Target="fonts/font20.fntdata"/><Relationship Id="rId44" Type="http://schemas.openxmlformats.org/officeDocument/2006/relationships/font" Target="fonts/font19.fntdata"/><Relationship Id="rId43" Type="http://schemas.openxmlformats.org/officeDocument/2006/relationships/font" Target="fonts/font18.fntdata"/><Relationship Id="rId42" Type="http://schemas.openxmlformats.org/officeDocument/2006/relationships/font" Target="fonts/font17.fntdata"/><Relationship Id="rId41" Type="http://schemas.openxmlformats.org/officeDocument/2006/relationships/font" Target="fonts/font16.fntdata"/><Relationship Id="rId40" Type="http://schemas.openxmlformats.org/officeDocument/2006/relationships/font" Target="fonts/font15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4.fntdata"/><Relationship Id="rId38" Type="http://schemas.openxmlformats.org/officeDocument/2006/relationships/font" Target="fonts/font13.fntdata"/><Relationship Id="rId37" Type="http://schemas.openxmlformats.org/officeDocument/2006/relationships/font" Target="fonts/font12.fntdata"/><Relationship Id="rId36" Type="http://schemas.openxmlformats.org/officeDocument/2006/relationships/font" Target="fonts/font11.fntdata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579811"/>
            <a:ext cx="4722763" cy="11626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 Guide — Alexa Skill: Challenges, Debugging Journey, and Improvements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928491"/>
            <a:ext cx="4722763" cy="6351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 concise technical walkthrough for Alexa skill developers and engineers: how we built a birthday-to-zodiac assistant, the issues encountered in the interaction model and Lambda, the fixes applied, and the improvements that turned a simple calculator into a conversational hackathon-ready assistant.</a:t>
            </a:r>
            <a:endParaRPr lang="en-US" sz="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9845" y="0"/>
            <a:ext cx="403415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8990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Project Objective &amp; High-Level Flow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345109"/>
            <a:ext cx="8151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initial goal was straightforward: accept a user's birth date and return the correct zodiac sign. From that seed we evolved the skill into a multi-turn conversational assistant that maintains session state, provides personality summaries, daily horoscopes, and personalized book recommendations.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080022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76475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2367037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Launch &amp; Onboarding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635300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Welcome prompt and immediate request for birth date (no unnecessary yes/no step).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80022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76475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3987" y="2367037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Birthday Capture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635300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Elicit and validate month, day, and year slots with built-in types and supportive utterances.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249216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445669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6119" y="3536231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804493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Compute sign, return enriched response: readable date, sign, traits, lucky color &amp; number, compatible signs, and horoscope.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249216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445669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33987" y="3536231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Optional Book Recommendation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804493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Multi-turn: ask if user wants recommendations; follow-up supports genre, age group, and language filters.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96119" y="4721796"/>
            <a:ext cx="8608963" cy="77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diagram shows the complete decision tree and user journey through all possible paths in the Zodiac Guide skill, from launch through graceful exit.</a:t>
            </a:r>
            <a:endParaRPr lang="en-US" sz="500" dirty="0"/>
          </a:p>
        </p:txBody>
      </p:sp>
      <p:sp>
        <p:nvSpPr>
          <p:cNvPr id="5" name="Text Box 4"/>
          <p:cNvSpPr txBox="1"/>
          <p:nvPr/>
        </p:nvSpPr>
        <p:spPr>
          <a:xfrm>
            <a:off x="4625975" y="3683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93576"/>
            <a:ext cx="4722763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1: Main Demo (Happy Path)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925119" y="677168"/>
            <a:ext cx="5179963" cy="107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outlines the intended successful user interaction and system responses for the primary demonstration.</a:t>
            </a:r>
            <a:endParaRPr lang="en-US" sz="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5119" y="845046"/>
            <a:ext cx="406971" cy="569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444" y="926381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User Initiates Skill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385444" y="1085478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Open skill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Launch</a:t>
            </a:r>
            <a:endParaRPr lang="en-US" sz="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414463"/>
            <a:ext cx="406971" cy="5694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5444" y="1495797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Provides Birthday for Zodiac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385444" y="1654894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"My birthday is August sixteenth nineteen ninety"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Profile (Leo with traits, lucky color/number, compatibility)</a:t>
            </a:r>
            <a:endParaRPr lang="en-US" sz="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83879"/>
            <a:ext cx="406971" cy="5694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5444" y="2065213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Requests Zodiac Profile Details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385444" y="2224311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YES (to zodiac profile)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Profile (Leo with traits, lucky color/number, compatibility)</a:t>
            </a:r>
            <a:endParaRPr lang="en-US" sz="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553295"/>
            <a:ext cx="406971" cy="5694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85444" y="2634630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Requests Book Recommendation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4385444" y="2793727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YES (to book recommendation)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Book Recommendation (mystery genre for adults in English)</a:t>
            </a:r>
            <a:endParaRPr lang="en-US" sz="6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122712"/>
            <a:ext cx="406971" cy="56941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85444" y="3204046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Specifies Recommendation Criteria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4385444" y="3363144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"Recommend a mystery book for adults in English"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Continue Exploring (offer another recommendation)</a:t>
            </a:r>
            <a:endParaRPr lang="en-US" sz="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692128"/>
            <a:ext cx="406971" cy="56941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385444" y="3773463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Declines Further Exploration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4385444" y="3932560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NO (to continue exploring)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Standard Book Recommendation (alternative genre)</a:t>
            </a:r>
            <a:endParaRPr lang="en-US" sz="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119" y="4261545"/>
            <a:ext cx="406971" cy="48837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385444" y="4342879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Skill Exits Gracefully</a:t>
            </a:r>
            <a:endParaRPr lang="en-US" sz="800" dirty="0"/>
          </a:p>
        </p:txBody>
      </p:sp>
      <p:sp>
        <p:nvSpPr>
          <p:cNvPr id="25" name="Text 15"/>
          <p:cNvSpPr/>
          <p:nvPr/>
        </p:nvSpPr>
        <p:spPr>
          <a:xfrm>
            <a:off x="4385444" y="4501976"/>
            <a:ext cx="4262438" cy="107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Graceful Exit (thank you and goodbye)</a:t>
            </a:r>
            <a:endParaRPr lang="en-US" sz="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35934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064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2: Negative Path (User Declines Recommendations)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53170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291158"/>
            <a:ext cx="8151763" cy="682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Open skill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"My birthday is January tenth twenty fifteen"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NO (decline book recommendation)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112838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450827"/>
            <a:ext cx="14288" cy="1351955"/>
          </a:xfrm>
          <a:prstGeom prst="roundRect">
            <a:avLst>
              <a:gd name="adj" fmla="val 59998"/>
            </a:avLst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2154" y="2590354"/>
            <a:ext cx="7965728" cy="1072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"Would you like a book recommendation based on your zodiac personality?"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User: "No"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"That's okay. You can always ask me for personalized book recommendations or zodiac information anytime. Have a wonderful day!"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3942308"/>
            <a:ext cx="8151763" cy="806053"/>
          </a:xfrm>
          <a:prstGeom prst="roundRect">
            <a:avLst>
              <a:gd name="adj" fmla="val 6464"/>
            </a:avLst>
          </a:prstGeom>
          <a:solidFill>
            <a:srgbClr val="D2D9F9"/>
          </a:solidFill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22093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071" y="4097238"/>
            <a:ext cx="7624837" cy="508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Key Behavior: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Graceful handling of user decline — no pressure, friendly tone, leaves door open for future interactions.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84684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: Help Intent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180802"/>
            <a:ext cx="4722763" cy="18667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- "help"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"You can tell me your birthday to know your zodiac sign, ask for a book recommendation, or get a personalized recommendation based on your zodiac personality."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Key Behavior: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Clear, concise help message that summarizes all three main capabilities: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3187080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383533"/>
            <a:ext cx="22993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925119" y="3474095"/>
            <a:ext cx="22993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Birthday → Zodiac sign lookup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48487" y="3187080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48487" y="3383533"/>
            <a:ext cx="22993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348487" y="3474095"/>
            <a:ext cx="22993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Book recommendation request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5119" y="3884935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25119" y="4081388"/>
            <a:ext cx="4722763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925119" y="4171950"/>
            <a:ext cx="47227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Zodiac-based personalized recommendation</a:t>
            </a:r>
            <a:endParaRPr lang="en-US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902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219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Major Issues Encountered (Summary)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92324"/>
            <a:ext cx="2634555" cy="1894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380" y="1588443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Silent after "Yes"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34380" y="1856705"/>
            <a:ext cx="2358033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Root cause: LaunchRequest asked a YES/NO question but no intent handled a standalone "Yes" reply. Fix: simplify launch to request birth date directly to avoid unhandled intents.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4648" y="1092324"/>
            <a:ext cx="2634630" cy="18949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92909" y="1588443"/>
            <a:ext cx="235810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Slot Naming Validation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92909" y="1856705"/>
            <a:ext cx="235810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Error: slot names must start/end with alphabetic characters. Fix: standardized slot names to month, day, year.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3252" y="1092324"/>
            <a:ext cx="2634555" cy="18949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1513" y="1588443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Empty Custom Slot Type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51513" y="1856705"/>
            <a:ext cx="235803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Custom MONTH slot had no values — removed it and used AMAZON.Month to leverage built-ins.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11252"/>
            <a:ext cx="4013820" cy="14980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4380" y="3607371"/>
            <a:ext cx="373729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Repeated Elicitation &amp; Missing Values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4380" y="3875633"/>
            <a:ext cx="373729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 repeatedly asked day/month/year because day and year were not being captured; observed request JSON showed day='?' which fed into Lambda as a non-numeric value.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13" y="3111252"/>
            <a:ext cx="4013895" cy="14980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72174" y="3607371"/>
            <a:ext cx="373737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Lambda ValueError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772174" y="3875633"/>
            <a:ext cx="373737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Python int() conversion failed on '?' — the fix was twofold: correct slot types/utterances and add defensive parsing/validation in Lambda before numeric conversion.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862831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Interaction Model Fixes (Detailed)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358950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We focused on aligning slot types, utterances, and dialog elicitations with natural speech patterns.     Key changes:   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1895401"/>
            <a:ext cx="4722763" cy="23851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Slot names standardized: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day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year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Replaced custom MONTH type with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AMAZON.Month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robust month recognition (full and short forms).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Changed slot types: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→ AMAZON.Ordinal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(captures 'fifth', 'sixteenth'),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 → AMAZON.FOUR_DIGIT_NUMBER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month → AMAZON.Month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Added utterance patterns in both orders: "{month} {day} {year}" and "{day} {month} {year}" and natural variants like "January fifth twenty fifteen" to reflect real speech.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Populated user utterances for each dialog elicitation prompt so Alexa can recognize expected replies during slot elicitation (critical for dialog model completeness).</a:t>
            </a:r>
            <a:endParaRPr lang="en-US" sz="9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6430" y="-72390"/>
            <a:ext cx="3420110" cy="2644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840" y="2341245"/>
            <a:ext cx="3368040" cy="2802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62322"/>
            <a:ext cx="4722763" cy="591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Lambda Code &amp; Data Validation Enhancements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925119" y="1122462"/>
            <a:ext cx="5179963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Backend fixes improved resilience and correctness:   </a:t>
            </a:r>
            <a:endParaRPr lang="en-US" sz="900" dirty="0"/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3925119" y="1496690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4096866" y="1433885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Defensive Parsing</a:t>
            </a:r>
            <a:endParaRPr lang="en-US" sz="115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4096866" y="1686148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Before int() conversions, verify slot values exist, normalize ordinal text to integers, and handle common ASR artifacts ('?', 'unknown').</a:t>
            </a:r>
            <a:endParaRPr lang="en-US" sz="900" dirty="0"/>
          </a:p>
        </p:txBody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3925119" y="2343671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4096866" y="2280865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Datetime Validation</a:t>
            </a:r>
            <a:endParaRPr lang="en-US" sz="115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4096866" y="2533129"/>
            <a:ext cx="4551015" cy="554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Python's datetime and calendar logic to validate dates and leap years (reject February 31, April 31, Feb 29 on non-leap years), returning descriptive prompts when invalid.</a:t>
            </a:r>
            <a:endParaRPr lang="en-US" sz="9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3925119" y="3375347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4096866" y="3312542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Error Handling</a:t>
            </a:r>
            <a:endParaRPr lang="en-US" sz="1150" dirty="0"/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4096866" y="3564806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Catch ValueError and TypeError in Lambda, log full request JSON for debugging, and respond with a friendly re-prompt rather than failing silently.</a:t>
            </a:r>
            <a:endParaRPr lang="en-US" sz="900" dirty="0"/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925119" y="4222328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4096866" y="4159523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Logging</a:t>
            </a:r>
            <a:endParaRPr lang="en-US" sz="1150" dirty="0"/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4096866" y="4411787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Inspect request JSON during tests. Log recognized slot resolutions and their raw values to trace ASR mismatches vs slot type expectations.</a:t>
            </a:r>
            <a:endParaRPr lang="en-US" sz="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500"/>
            <a:ext cx="34994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186979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Speech &amp; SSML Improvements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683097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Improving voice quality makes interactions sound professional and reduces user friction. Changes include carefully applied SSML:   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2219548"/>
            <a:ext cx="4722763" cy="17368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&lt;break time="300ms"/&gt;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to separate phrases (e.g., between the spoken date and the zodiac result).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&lt;emphasis level="moderate"&gt;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the zodiac sign to highlight the key output.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Concise, friendly phrasing: "You were born on August 16, 1990.  Your zodiac sign is Leo."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Fallback and reprompt messages use softer prosody to reduce perceived abruptness.</a:t>
            </a:r>
            <a:endParaRPr lang="en-US" sz="9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0" y="635"/>
            <a:ext cx="5333365" cy="5068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073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Feature Additions: Enriched Zodiac Profile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190179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Beyond the basic sign lookup, we built a richer response package to increase engagement and demo value:   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28167"/>
            <a:ext cx="557213" cy="5572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8336" y="1528167"/>
            <a:ext cx="1209452" cy="3876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Personality Traits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08336" y="1990279"/>
            <a:ext cx="1209452" cy="21830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Concise, 2–3 sentence description tailored to the sign (e.g., "Leos are confident, creative, and natural leaders — they thrive on recognition and take bold initiative").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92" y="1528167"/>
            <a:ext cx="557213" cy="5572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5009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Lucky Color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85009" y="1796430"/>
            <a:ext cx="1209452" cy="11907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Return the lucky color with a short usage tip (e.g., "Gold — great for accessories on presentation days").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65" y="1528167"/>
            <a:ext cx="557213" cy="5572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1682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Lucky Number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61682" y="1796430"/>
            <a:ext cx="1209452" cy="1587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Include lucky number and a short suggestion how to use it (e.g., "Consider 1 for timing decisions or milestone planning").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8" y="1528167"/>
            <a:ext cx="557287" cy="5572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8430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Compatibility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438430" y="1796430"/>
            <a:ext cx="120945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List compatible signs (e.g., "Leo is compatible with Aries and Sagittarius") with a one-sentence rationale.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96119" y="4312890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Daily horoscope snippet included; short and actionable (one sentence) so it fits voice UX constraints.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54621"/>
            <a:ext cx="4722763" cy="620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Book Recommendation Flow &amp; Conversational UX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460822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We implemented a personalized recommendation engine that uses a CSV-backed knowledge base combined with in-session preferences:   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5119" y="1997273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90206" y="1997273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Filters Supported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90206" y="2265536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Genre, age group, language, and zodiac personality mapping to preferred genres (e.g., Leos → Fantasy).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910483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90206" y="2910483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Recommendation Metadata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90206" y="3178746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Return rating, reading time, and difficulty level in the spoken response and optionally as a card in the Alexa app.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823692"/>
            <a:ext cx="310083" cy="3100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90206" y="3823692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Session &amp; State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390206" y="4091955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Maintain conversation_state to allow "continue exploring" or "another recommendation" flows without the user repeating context.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70205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4416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Lessons Learned &amp; Best Practices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362521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Key takeaways for Alexa skill developers when building robust voice experiences:   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700510"/>
            <a:ext cx="8151763" cy="18046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Interaction model correctness is as important as backend logic — mismatched slot types or missing utterances often cause perceived runtime errors.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Always inspect the request JSON during debugging. The slot values and resolutions tell the real story of what Alexa heard.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built-in slot types whenever possible (AMAZON.Month, AMAZON.Ordinal, AMAZON.FOUR_DIGIT_NUMBER) to leverage Alexa’s recognition models.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Validate user input server-side before converting values — protect Lambda against ASR artifacts and malformed inputs.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Design for natural speech order and populate sample utterances that match how users speak (month-first patterns are common).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Enhance speech with SSML but keep responses concise for voice UX; include reprompts and graceful fallback language.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3644652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D2D9F9"/>
          </a:solidFill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824436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3799582"/>
            <a:ext cx="762483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Pro tip: Add comprehensive developer logs during testing and remove or lower verbosity before production to avoid cost and log noise.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 panose="020F0503020000020004"/>
              </a:rPr>
              <a:t>Feature Enhancements Beyond the Core Skill</a:t>
            </a:r>
            <a:endParaRPr sz="1950" b="0">
              <a:solidFill>
                <a:srgbClr val="1B1B27"/>
              </a:solidFill>
              <a:latin typeface="Corben" panose="020F05030200000200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Building on the working skill, we added four enhancements to enrich the book-recommendation experience and make the demo stand out: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493776" y="20756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01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493776" y="2276856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493776" y="2368296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 panose="020F0503020000020004"/>
              </a:rPr>
              <a:t>APL Visual Cards</a:t>
            </a:r>
            <a:endParaRPr sz="1200" b="0">
              <a:solidFill>
                <a:srgbClr val="404155"/>
              </a:solidFill>
              <a:latin typeface="Corben" panose="020F0503020000020004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493776" y="2633472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Rich on-screen book cards showing title, author, and cover art alongside the voice reply.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4636008" y="20756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02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4636008" y="2276856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4636008" y="2368296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 panose="020F0503020000020004"/>
              </a:rPr>
              <a:t>Multi-Language Selection</a:t>
            </a:r>
            <a:endParaRPr sz="1200" b="0">
              <a:solidFill>
                <a:srgbClr val="404155"/>
              </a:solidFill>
              <a:latin typeface="Corben" panose="020F0503020000020004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636008" y="2633472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Request books across English, Hindi, Tamil, and Telugu within a single conversation.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493776" y="32461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03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493776" y="3447288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493776" y="3538727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 panose="020F0503020000020004"/>
              </a:rPr>
              <a:t>Author Synonyms</a:t>
            </a:r>
            <a:endParaRPr sz="1200" b="0">
              <a:solidFill>
                <a:srgbClr val="404155"/>
              </a:solidFill>
              <a:latin typeface="Corben" panose="020F0503020000020004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493776" y="3803904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Spoken name variations resolve to the correct catalogue author, reducing 'not found' errors.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4636008" y="32461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04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17" name="Rectangle 16"/>
          <p:cNvSpPr/>
          <p:nvPr>
            <p:custDataLst>
              <p:tags r:id="rId14"/>
            </p:custDataLst>
          </p:nvPr>
        </p:nvSpPr>
        <p:spPr>
          <a:xfrm>
            <a:off x="4636008" y="3447288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4636008" y="3538727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 panose="020F0503020000020004"/>
              </a:rPr>
              <a:t>Open Library Covers</a:t>
            </a:r>
            <a:endParaRPr sz="1200" b="0">
              <a:solidFill>
                <a:srgbClr val="404155"/>
              </a:solidFill>
              <a:latin typeface="Corben" panose="020F0503020000020004"/>
            </a:endParaRP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4636008" y="3803904"/>
            <a:ext cx="4014215" cy="16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Live book-cover </a:t>
            </a:r>
            <a:r>
              <a:rPr lang="en-IN" sz="950" b="0">
                <a:solidFill>
                  <a:srgbClr val="404155"/>
                </a:solidFill>
                <a:latin typeface="Nobile" panose="02000503050000020004"/>
              </a:rPr>
              <a:t>titles</a:t>
            </a: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 fetched in real time from the Open Library API.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 panose="020F0503020000020004"/>
              </a:rPr>
              <a:t>Enhancement: APL Visual Cards for Book Recommendations</a:t>
            </a:r>
            <a:endParaRPr sz="1950" b="0">
              <a:solidFill>
                <a:srgbClr val="1B1B27"/>
              </a:solidFill>
              <a:latin typeface="Corben" panose="020F05030200000200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On screen-enabled Alexa devices, each recommendation now renders as a rich visual card instead of voice alone.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01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892807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404155"/>
                </a:solidFill>
                <a:latin typeface="+mj-lt"/>
              </a:rPr>
              <a:t>   w</a:t>
            </a:r>
            <a:r>
              <a:rPr sz="1200" b="1" dirty="0">
                <a:solidFill>
                  <a:srgbClr val="404155"/>
                </a:solidFill>
                <a:latin typeface="+mj-lt"/>
              </a:rPr>
              <a:t>hy it matters</a:t>
            </a:r>
            <a:endParaRPr sz="1200" b="1" dirty="0">
              <a:solidFill>
                <a:srgbClr val="404155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Shows book title, author, and cover art with the spoken reply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Genre-based accent colours make every card feel tailored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Falls back gracefully to voice-only on devices without a screen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</p:txBody>
      </p:sp>
      <p:pic>
        <p:nvPicPr>
          <p:cNvPr id="8" name="Picture 7" descr="AOL Car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104240"/>
            <a:ext cx="4754880" cy="20551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 panose="020F0503020000020004"/>
              </a:rPr>
              <a:t>Enhancement: Author Synonyms for Robust Recognition</a:t>
            </a:r>
            <a:endParaRPr sz="1950" b="0">
              <a:solidFill>
                <a:srgbClr val="1B1B27"/>
              </a:solidFill>
              <a:latin typeface="Corben" panose="020F05030200000200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Real-world variations of an author's name now resolve to the correct catalogue entry.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03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892807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dirty="0">
                <a:solidFill>
                  <a:srgbClr val="404155"/>
                </a:solidFill>
                <a:latin typeface="Corben" panose="020F0503020000020004"/>
              </a:rPr>
              <a:t>  </a:t>
            </a:r>
            <a:r>
              <a:rPr lang="en-US" sz="1200" b="1" dirty="0">
                <a:solidFill>
                  <a:srgbClr val="404155"/>
                </a:solidFill>
              </a:rPr>
              <a:t>w</a:t>
            </a:r>
            <a:r>
              <a:rPr sz="1200" b="1" dirty="0">
                <a:solidFill>
                  <a:srgbClr val="404155"/>
                </a:solidFill>
              </a:rPr>
              <a:t>hy it matters</a:t>
            </a:r>
            <a:endParaRPr sz="1200" b="1" dirty="0">
              <a:solidFill>
                <a:srgbClr val="40415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Synonyms map spoken variants (e.g. 'J. K. Rowling' -&gt; 'j k rowling')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Reduces 'author not found' failures caused by speech-to-text spelling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The same robustness approach is mirrored in the Python chatbot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</p:txBody>
      </p:sp>
      <p:pic>
        <p:nvPicPr>
          <p:cNvPr id="8" name="Picture 7" descr="synonym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949992"/>
            <a:ext cx="4754880" cy="2363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 panose="020F0503020000020004"/>
              </a:rPr>
              <a:t>Enhancement: Multi-Language Book Selection</a:t>
            </a:r>
            <a:endParaRPr sz="1950" b="0">
              <a:solidFill>
                <a:srgbClr val="1B1B27"/>
              </a:solidFill>
              <a:latin typeface="Corben" panose="020F05030200000200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Users can ask for books in more than one language within a single conversation.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02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901952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dirty="0">
                <a:solidFill>
                  <a:srgbClr val="404155"/>
                </a:solidFill>
                <a:latin typeface="Corben" panose="020F0503020000020004"/>
              </a:rPr>
              <a:t>  </a:t>
            </a:r>
            <a:r>
              <a:rPr lang="en-US" sz="1200" b="1" dirty="0">
                <a:solidFill>
                  <a:srgbClr val="404155"/>
                </a:solidFill>
              </a:rPr>
              <a:t>w</a:t>
            </a:r>
            <a:r>
              <a:rPr sz="1200" b="1" dirty="0">
                <a:solidFill>
                  <a:srgbClr val="404155"/>
                </a:solidFill>
              </a:rPr>
              <a:t>hy it matters</a:t>
            </a:r>
            <a:endParaRPr sz="1200" b="1" dirty="0">
              <a:solidFill>
                <a:srgbClr val="40415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Supports English, Hindi, Tamil, and Telugu from one dialogue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Language captured as a slot and combined with genre and age filters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Broadens the skill's reach to multilingual readers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</p:txBody>
      </p:sp>
      <p:pic>
        <p:nvPicPr>
          <p:cNvPr id="8" name="Picture 7" descr="Multi-Langu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8977" y="1463040"/>
            <a:ext cx="4160765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 panose="020F0503020000020004"/>
              </a:rPr>
              <a:t>Enhancement: Live Cover Art via the Open Library API</a:t>
            </a:r>
            <a:endParaRPr sz="1950" b="0">
              <a:solidFill>
                <a:srgbClr val="1B1B27"/>
              </a:solidFill>
              <a:latin typeface="Corben" panose="020F05030200000200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 panose="02000503050000020004"/>
              </a:rPr>
              <a:t>Book covers are fetched in real time from the Open Library API to enrich the visual card.</a:t>
            </a:r>
            <a:endParaRPr sz="950" b="0">
              <a:solidFill>
                <a:srgbClr val="404155"/>
              </a:solidFill>
              <a:latin typeface="Nobile" panose="020005030500000200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04</a:t>
            </a:r>
            <a:endParaRPr sz="950" b="0">
              <a:solidFill>
                <a:srgbClr val="404155"/>
              </a:solidFill>
              <a:latin typeface="Corben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938744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404155"/>
                </a:solidFill>
              </a:rPr>
              <a:t>  w</a:t>
            </a:r>
            <a:r>
              <a:rPr sz="1200" b="1" dirty="0">
                <a:solidFill>
                  <a:srgbClr val="404155"/>
                </a:solidFill>
              </a:rPr>
              <a:t>hy it matters</a:t>
            </a:r>
            <a:endParaRPr sz="1200" b="1" dirty="0">
              <a:solidFill>
                <a:srgbClr val="40415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1151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Calls Open Library to retrieve </a:t>
            </a:r>
            <a:r>
              <a:rPr lang="en-IN" sz="950">
                <a:solidFill>
                  <a:srgbClr val="404155"/>
                </a:solidFill>
                <a:latin typeface="Nobile" panose="02000503050000020004"/>
              </a:rPr>
              <a:t>book recommendations by configured slots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Keeps the catalogue lightweight - no need </a:t>
            </a:r>
            <a:r>
              <a:rPr lang="en-IN" sz="950">
                <a:solidFill>
                  <a:srgbClr val="404155"/>
                </a:solidFill>
                <a:latin typeface="Nobile" panose="02000503050000020004"/>
              </a:rPr>
              <a:t>of google sheets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 panose="02000503050000020004"/>
              </a:rPr>
              <a:t>•  </a:t>
            </a:r>
            <a:r>
              <a:rPr sz="950">
                <a:solidFill>
                  <a:srgbClr val="404155"/>
                </a:solidFill>
                <a:latin typeface="Nobile" panose="02000503050000020004"/>
              </a:rPr>
              <a:t>Delivers a polished, professional look for the live demo</a:t>
            </a:r>
            <a:endParaRPr sz="950">
              <a:solidFill>
                <a:srgbClr val="404155"/>
              </a:solidFill>
              <a:latin typeface="Nobile" panose="02000503050000020004"/>
            </a:endParaRPr>
          </a:p>
        </p:txBody>
      </p:sp>
      <p:pic>
        <p:nvPicPr>
          <p:cNvPr id="8" name="Picture 7" descr="calling-openlibr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97304"/>
            <a:ext cx="4754880" cy="28690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042169"/>
            <a:ext cx="4722763" cy="620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Project Status, Next Steps, and Hackathon Checklist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1848371"/>
            <a:ext cx="2299395" cy="1914971"/>
          </a:xfrm>
          <a:prstGeom prst="roundRect">
            <a:avLst>
              <a:gd name="adj" fmla="val 272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53855" y="1977107"/>
            <a:ext cx="204192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3855" y="2245370"/>
            <a:ext cx="204192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Birthday→Zodiac detection, personality details, horoscope, book recommendations (genre/age/language), multi-turn flow, graceful exits, help/fallback intents, session state management, CSV integration.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48487" y="1848371"/>
            <a:ext cx="2299395" cy="1914971"/>
          </a:xfrm>
          <a:prstGeom prst="roundRect">
            <a:avLst>
              <a:gd name="adj" fmla="val 272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77223" y="1977107"/>
            <a:ext cx="204192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Potential Enhancements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7223" y="2245370"/>
            <a:ext cx="204192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Multiple recommendation candidates, rating-based sorting, mood-based suggestions, memory of past recommendations to avoid repeats, merging preferences into a single recommendation engine.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25119" y="3902869"/>
            <a:ext cx="5179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3835" y="635"/>
            <a:ext cx="4128770" cy="49707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2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3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4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5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6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7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8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9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0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1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2.xml><?xml version="1.0" encoding="utf-8"?>
<p:tagLst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3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14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15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16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17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18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19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0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1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2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3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4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5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6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7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ags/tag28.xml><?xml version="1.0" encoding="utf-8"?>
<p:tagLst xmlns:p="http://schemas.openxmlformats.org/presentationml/2006/main">
  <p:tag name="KSO_WM_DIAGRAM_VIRTUALLY_FRAME" val="{&quot;height&quot;:172.07999999999998,&quot;left&quot;:38.88,&quot;top&quot;:163.44,&quot;width&quot;:642.23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11074</Words>
  <Application>WPS Presentation</Application>
  <PresentationFormat>On-screen Show (16:9)</PresentationFormat>
  <Paragraphs>308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7" baseType="lpstr">
      <vt:lpstr>Arial</vt:lpstr>
      <vt:lpstr>SimSun</vt:lpstr>
      <vt:lpstr>Wingdings</vt:lpstr>
      <vt:lpstr>Corben</vt:lpstr>
      <vt:lpstr>Corben</vt:lpstr>
      <vt:lpstr>Corben</vt:lpstr>
      <vt:lpstr>Nobile</vt:lpstr>
      <vt:lpstr>Nobile</vt:lpstr>
      <vt:lpstr>Nobile</vt:lpstr>
      <vt:lpstr>Corben Light</vt:lpstr>
      <vt:lpstr>Segoe Print</vt:lpstr>
      <vt:lpstr>Corben Light</vt:lpstr>
      <vt:lpstr>Corben Light</vt:lpstr>
      <vt:lpstr>Nobile Bold</vt:lpstr>
      <vt:lpstr>Nobile Bold</vt:lpstr>
      <vt:lpstr>Nobile Bold</vt:lpstr>
      <vt:lpstr>Consolas</vt:lpstr>
      <vt:lpstr>Consolas</vt:lpstr>
      <vt:lpstr>Consolas</vt:lpstr>
      <vt:lpstr>Corben</vt:lpstr>
      <vt:lpstr>Nobile</vt:lpstr>
      <vt:lpstr>Corben Light</vt:lpstr>
      <vt:lpstr>Calibri</vt:lpstr>
      <vt:lpstr>Microsoft YaHei</vt:lpstr>
      <vt:lpstr>Arial Unicode MS</vt:lpstr>
      <vt:lpstr>Calibri Light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Bhargavi Lingamaneni</cp:lastModifiedBy>
  <cp:revision>13</cp:revision>
  <dcterms:created xsi:type="dcterms:W3CDTF">2026-07-13T14:23:00Z</dcterms:created>
  <dcterms:modified xsi:type="dcterms:W3CDTF">2026-07-19T11:06:49Z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1C9B6235EA2445BEA350FA12723820E3_12</vt:lpwstr>
  </property>
  <property fmtid="{D5CDD505-2E9C-101B-9397-08002B2CF9AE}" pid="3" name="KSOProductBuildVer">
    <vt:lpwstr>2057-12.2.0.23206</vt:lpwstr>
  </property>
</Properties>
</file>