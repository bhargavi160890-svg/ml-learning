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71" r:id="rId16"/>
    <p:sldId id="273" r:id="rId17"/>
    <p:sldId id="272" r:id="rId18"/>
    <p:sldId id="274" r:id="rId19"/>
    <p:sldId id="269" r:id="rId20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22"/>
      <p:bold r:id="rId23"/>
      <p:italic r:id="rId24"/>
      <p:boldItalic r:id="rId25"/>
    </p:embeddedFont>
    <p:embeddedFont>
      <p:font typeface="Corben" panose="020B0604020202020204" charset="0"/>
      <p:regular r:id="rId26"/>
    </p:embeddedFont>
    <p:embeddedFont>
      <p:font typeface="Nobile" panose="020B0604020202020204" charset="0"/>
      <p:regular r:id="rId27"/>
    </p:embeddedFont>
    <p:embeddedFont>
      <p:font typeface="Nobile Bold" panose="020B0604020202020204" charset="0"/>
      <p:bold r:id="rId2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7/18/2026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9FF">
              <a:alpha val="95000"/>
            </a:srgbClr>
          </a:solidFill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2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16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21.png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svg"/><Relationship Id="rId5" Type="http://schemas.openxmlformats.org/officeDocument/2006/relationships/image" Target="../media/image29.png"/><Relationship Id="rId4" Type="http://schemas.openxmlformats.org/officeDocument/2006/relationships/image" Target="../media/image28.svg"/><Relationship Id="rId9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579811"/>
            <a:ext cx="4722763" cy="11626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Zodiac Guide — Alexa Skill: Challenges, Debugging Journey, and Improvements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496119" y="2928491"/>
            <a:ext cx="4722763" cy="6351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7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 concise technical walkthrough for Alexa skill developers and engineers: how we built a birthday-to-zodiac assistant, the issues encountered in the interaction model and Lambda, the fixes applied, and the improvements that turned a simple calculator into a conversational hackathon-ready assistant.</a:t>
            </a:r>
            <a:endParaRPr lang="en-US" sz="750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09845" y="0"/>
            <a:ext cx="4034155" cy="514413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48990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Project Objective &amp; High-Level Flow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345109"/>
            <a:ext cx="8151763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The initial goal was straightforward: accept a user's birth date and return the correct zodiac sign. From that seed we evolved the skill into a multi-turn conversational assistant that maintains session state, provides personality summaries, daily horoscopes, and personalized book recommendations.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2080022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2276475"/>
            <a:ext cx="4013895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96119" y="2367037"/>
            <a:ext cx="40138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Launch &amp; Onboarding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96119" y="2635300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Welcome prompt and immediate request for birth date (no unnecessary yes/no step).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633987" y="2080022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33987" y="2276475"/>
            <a:ext cx="4013895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33987" y="2367037"/>
            <a:ext cx="40138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Birthday Capture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33987" y="2635300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Elicit and validate month, day, and year slots with built-in types and supportive utterances.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6119" y="3249216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6119" y="3445669"/>
            <a:ext cx="4013895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96119" y="3536231"/>
            <a:ext cx="40138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Zodiac Profile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6119" y="3804493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Compute sign, return enriched response: readable date, sign, traits, lucky color &amp; number, compatible signs, and horoscope.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633987" y="3249216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04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33987" y="3445669"/>
            <a:ext cx="4013895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633987" y="3536231"/>
            <a:ext cx="40138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Optional Book Recommendation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633987" y="3804493"/>
            <a:ext cx="401389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Multi-turn: ask if user wants recommendations; follow-up supports genre, age group, and language filters.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4165"/>
            <a:ext cx="8151763" cy="1598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Complete End-to-End Skill Flow</a:t>
            </a:r>
            <a:endParaRPr lang="en-US" sz="1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261" y="556813"/>
            <a:ext cx="7315200" cy="411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</p:pic>
      <p:sp>
        <p:nvSpPr>
          <p:cNvPr id="4" name="Text 1"/>
          <p:cNvSpPr/>
          <p:nvPr/>
        </p:nvSpPr>
        <p:spPr>
          <a:xfrm>
            <a:off x="496119" y="4721796"/>
            <a:ext cx="8608963" cy="7753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1000"/>
              </a:lnSpc>
              <a:buNone/>
            </a:pPr>
            <a:r>
              <a:rPr lang="en-US" sz="5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This diagram shows the complete decision tree and user journey through all possible paths in the Zodiac Guide skill, from launch through graceful exit.</a:t>
            </a:r>
            <a:endParaRPr lang="en-US" sz="50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ABEE7E0-A0FE-44B9-D484-3AA8F8032362}"/>
              </a:ext>
            </a:extLst>
          </p:cNvPr>
          <p:cNvSpPr/>
          <p:nvPr/>
        </p:nvSpPr>
        <p:spPr>
          <a:xfrm>
            <a:off x="3461657" y="2235200"/>
            <a:ext cx="1422400" cy="10160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393576"/>
            <a:ext cx="4722763" cy="20352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Demo Flow 1: Main Demo (Happy Path)</a:t>
            </a:r>
            <a:endParaRPr lang="en-US" sz="1250" dirty="0"/>
          </a:p>
        </p:txBody>
      </p:sp>
      <p:sp>
        <p:nvSpPr>
          <p:cNvPr id="4" name="Text 1"/>
          <p:cNvSpPr/>
          <p:nvPr/>
        </p:nvSpPr>
        <p:spPr>
          <a:xfrm>
            <a:off x="3925119" y="677168"/>
            <a:ext cx="5179963" cy="107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This outlines the intended successful user interaction and system responses for the primary demonstration.</a:t>
            </a:r>
            <a:endParaRPr lang="en-US" sz="6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5119" y="845046"/>
            <a:ext cx="406971" cy="56941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85444" y="926381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User Initiates Skill</a:t>
            </a:r>
            <a:endParaRPr lang="en-US" sz="800" dirty="0"/>
          </a:p>
        </p:txBody>
      </p:sp>
      <p:sp>
        <p:nvSpPr>
          <p:cNvPr id="7" name="Text 3"/>
          <p:cNvSpPr/>
          <p:nvPr/>
        </p:nvSpPr>
        <p:spPr>
          <a:xfrm>
            <a:off x="4385444" y="1085478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Open skill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Launch</a:t>
            </a:r>
            <a:endParaRPr lang="en-US" sz="6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25119" y="1414463"/>
            <a:ext cx="406971" cy="56941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85444" y="1495797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Provides Birthday for Zodiac</a:t>
            </a:r>
            <a:endParaRPr lang="en-US" sz="800" dirty="0"/>
          </a:p>
        </p:txBody>
      </p:sp>
      <p:sp>
        <p:nvSpPr>
          <p:cNvPr id="10" name="Text 5"/>
          <p:cNvSpPr/>
          <p:nvPr/>
        </p:nvSpPr>
        <p:spPr>
          <a:xfrm>
            <a:off x="4385444" y="1654894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"My birthday is August sixteenth nineteen ninety"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Zodiac Profile (Leo with traits, lucky color/number, compatibility)</a:t>
            </a:r>
            <a:endParaRPr lang="en-US" sz="6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5119" y="1983879"/>
            <a:ext cx="406971" cy="56941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85444" y="2065213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Requests Zodiac Profile Details</a:t>
            </a:r>
            <a:endParaRPr lang="en-US" sz="800" dirty="0"/>
          </a:p>
        </p:txBody>
      </p:sp>
      <p:sp>
        <p:nvSpPr>
          <p:cNvPr id="13" name="Text 7"/>
          <p:cNvSpPr/>
          <p:nvPr/>
        </p:nvSpPr>
        <p:spPr>
          <a:xfrm>
            <a:off x="4385444" y="2224311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YES (to zodiac profile)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Zodiac Profile (Leo with traits, lucky color/number, compatibility)</a:t>
            </a:r>
            <a:endParaRPr lang="en-US" sz="6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5119" y="2553295"/>
            <a:ext cx="406971" cy="569416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4385444" y="2634630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Requests Book Recommendation</a:t>
            </a:r>
            <a:endParaRPr lang="en-US" sz="800" dirty="0"/>
          </a:p>
        </p:txBody>
      </p:sp>
      <p:sp>
        <p:nvSpPr>
          <p:cNvPr id="16" name="Text 9"/>
          <p:cNvSpPr/>
          <p:nvPr/>
        </p:nvSpPr>
        <p:spPr>
          <a:xfrm>
            <a:off x="4385444" y="2793727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YES (to book recommendation)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Zodiac Book Recommendation (mystery genre for adults in English)</a:t>
            </a:r>
            <a:endParaRPr lang="en-US" sz="600" dirty="0"/>
          </a:p>
        </p:txBody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925119" y="3122712"/>
            <a:ext cx="406971" cy="569416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4385444" y="3204046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Specifies Recommendation Criteria</a:t>
            </a:r>
            <a:endParaRPr lang="en-US" sz="800" dirty="0"/>
          </a:p>
        </p:txBody>
      </p:sp>
      <p:sp>
        <p:nvSpPr>
          <p:cNvPr id="19" name="Text 11"/>
          <p:cNvSpPr/>
          <p:nvPr/>
        </p:nvSpPr>
        <p:spPr>
          <a:xfrm>
            <a:off x="4385444" y="3363144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"Recommend a mystery book for adults in English"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Continue Exploring (offer another recommendation)</a:t>
            </a:r>
            <a:endParaRPr lang="en-US" sz="60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25119" y="3692128"/>
            <a:ext cx="406971" cy="569416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4385444" y="3773463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Declines Further Exploration</a:t>
            </a:r>
            <a:endParaRPr lang="en-US" sz="800" dirty="0"/>
          </a:p>
        </p:txBody>
      </p:sp>
      <p:sp>
        <p:nvSpPr>
          <p:cNvPr id="22" name="Text 13"/>
          <p:cNvSpPr/>
          <p:nvPr/>
        </p:nvSpPr>
        <p:spPr>
          <a:xfrm>
            <a:off x="4385444" y="3932560"/>
            <a:ext cx="4262438" cy="2476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spcAft>
                <a:spcPts val="250"/>
              </a:spcAft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NO (to continue exploring)</a:t>
            </a:r>
            <a:endParaRPr lang="en-US" sz="6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Standard Book Recommendation (alternative genre)</a:t>
            </a:r>
            <a:endParaRPr lang="en-US" sz="600" dirty="0"/>
          </a:p>
        </p:txBody>
      </p:sp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25119" y="4261545"/>
            <a:ext cx="406971" cy="488379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4385444" y="4342879"/>
            <a:ext cx="4262438" cy="12709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Skill Exits Gracefully</a:t>
            </a:r>
            <a:endParaRPr lang="en-US" sz="800" dirty="0"/>
          </a:p>
        </p:txBody>
      </p:sp>
      <p:sp>
        <p:nvSpPr>
          <p:cNvPr id="25" name="Text 15"/>
          <p:cNvSpPr/>
          <p:nvPr/>
        </p:nvSpPr>
        <p:spPr>
          <a:xfrm>
            <a:off x="4385444" y="4501976"/>
            <a:ext cx="4262438" cy="10782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60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r>
              <a:rPr lang="en-US" sz="6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Graceful Exit (thank you and goodbye)</a:t>
            </a:r>
            <a:endParaRPr lang="en-US" sz="600" dirty="0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3593465" cy="51435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4364BE0-0996-DAEB-2CFC-D628CB541C03}"/>
              </a:ext>
            </a:extLst>
          </p:cNvPr>
          <p:cNvSpPr/>
          <p:nvPr/>
        </p:nvSpPr>
        <p:spPr>
          <a:xfrm>
            <a:off x="4332090" y="2539270"/>
            <a:ext cx="3491110" cy="632778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5064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Demo Flow 2: Negative Path (User Declines Recommendations)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953170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291158"/>
            <a:ext cx="8151763" cy="68215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Open skill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"My birthday is January tenth twenty fifteen"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NO (decline book recommendation)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496119" y="2112838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96119" y="2450827"/>
            <a:ext cx="14288" cy="1351955"/>
          </a:xfrm>
          <a:prstGeom prst="roundRect">
            <a:avLst>
              <a:gd name="adj" fmla="val 59998"/>
            </a:avLst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82154" y="2590354"/>
            <a:ext cx="7965728" cy="107290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Alexa: "Would you like a book recommendation based on your zodiac personality?"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User: "No"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Alexa: "That's okay. You can always ask me for personalized book recommendations or zodiac information anytime. Have a wonderful day!"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96119" y="3942308"/>
            <a:ext cx="8151763" cy="806053"/>
          </a:xfrm>
          <a:prstGeom prst="roundRect">
            <a:avLst>
              <a:gd name="adj" fmla="val 6464"/>
            </a:avLst>
          </a:prstGeom>
          <a:solidFill>
            <a:srgbClr val="D2D9F9"/>
          </a:solidFill>
        </p:spPr>
        <p:txBody>
          <a:bodyPr/>
          <a:lstStyle/>
          <a:p>
            <a:endParaRPr lang="en-IN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4122093"/>
            <a:ext cx="155004" cy="1239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99071" y="4097238"/>
            <a:ext cx="7624837" cy="5085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3000"/>
              </a:lnSpc>
              <a:spcAft>
                <a:spcPts val="850"/>
              </a:spcAft>
              <a:buNone/>
            </a:pPr>
            <a:r>
              <a:rPr lang="en-US" sz="950" b="1" dirty="0">
                <a:solidFill>
                  <a:srgbClr val="000000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Key Behavior: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Graceful handling of user decline — no pressure, friendly tone, leaves door open for future interactions.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684684"/>
            <a:ext cx="4722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Demo Flow : Help Intent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1180802"/>
            <a:ext cx="4722763" cy="186675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User Input: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- "help"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Expected Output:</a:t>
            </a:r>
            <a:endParaRPr lang="en-US" sz="950" dirty="0"/>
          </a:p>
          <a:p>
            <a:pPr marL="0" indent="0" algn="l">
              <a:lnSpc>
                <a:spcPct val="133000"/>
              </a:lnSpc>
              <a:spcAft>
                <a:spcPts val="1050"/>
              </a:spcAft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Alexa: "You can tell me your birthday to know your zodiac sign, ask for a book recommendation, or get a personalized recommendation based on your zodiac personality."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Key Behavior:</a:t>
            </a:r>
            <a:endParaRPr lang="en-US" sz="9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Clear, concise help message that summarizes all three main capabilities: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3925119" y="3187080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01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3925119" y="3383533"/>
            <a:ext cx="2299395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3925119" y="3474095"/>
            <a:ext cx="22993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Birthday → Zodiac sign lookup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48487" y="3187080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02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348487" y="3383533"/>
            <a:ext cx="2299395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348487" y="3474095"/>
            <a:ext cx="229939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Book recommendation request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25119" y="3884935"/>
            <a:ext cx="248022" cy="155004"/>
          </a:xfrm>
          <a:prstGeom prst="rect">
            <a:avLst/>
          </a:prstGeom>
          <a:noFill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Corben Light" pitchFamily="34" charset="0"/>
                <a:ea typeface="Corben Light" pitchFamily="34" charset="-122"/>
                <a:cs typeface="Corben Light" pitchFamily="34" charset="-120"/>
              </a:rPr>
              <a:t>03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3925119" y="4081388"/>
            <a:ext cx="4722763" cy="14288"/>
          </a:xfrm>
          <a:prstGeom prst="rect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3" name="Text 10"/>
          <p:cNvSpPr/>
          <p:nvPr/>
        </p:nvSpPr>
        <p:spPr>
          <a:xfrm>
            <a:off x="3925119" y="4171950"/>
            <a:ext cx="472276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Zodiac-based personalized recommendation</a:t>
            </a:r>
            <a:endParaRPr lang="en-US" sz="120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39026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534219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Major Issues Encountered (Summary)</a:t>
            </a:r>
            <a:endParaRPr lang="en-US" sz="19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092324"/>
            <a:ext cx="2634555" cy="18949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4380" y="1588443"/>
            <a:ext cx="235803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Silent after "Yes"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34380" y="1856705"/>
            <a:ext cx="2358033" cy="99231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Root cause: LaunchRequest asked a YES/NO question but no intent handled a standalone "Yes" reply. Fix: simplify launch to request birth date directly to avoid unhandled intents.</a:t>
            </a:r>
            <a:endParaRPr lang="en-US" sz="9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4648" y="1092324"/>
            <a:ext cx="2634630" cy="189495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392909" y="1588443"/>
            <a:ext cx="2358107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Slot Naming Validation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3392909" y="1856705"/>
            <a:ext cx="2358107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Error: slot names must start/end with alphabetic characters. Fix: standardized slot names to month, day, year.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013252" y="1092324"/>
            <a:ext cx="2634555" cy="189495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51513" y="1588443"/>
            <a:ext cx="2358033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Empty Custom Slot Type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6151513" y="1856705"/>
            <a:ext cx="2358033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Custom MONTH slot had no values — removed it and used AMAZON.Month to leverage built-ins.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3111252"/>
            <a:ext cx="4013820" cy="149802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4380" y="3607371"/>
            <a:ext cx="3737297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Repeated Elicitation &amp; Missing Values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4380" y="3875633"/>
            <a:ext cx="3737297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Alexa repeatedly asked day/month/year because day and year were not being captured; observed request JSON showed day='?' which fed into Lambda as a non-numeric value.</a:t>
            </a:r>
            <a:endParaRPr lang="en-US" sz="9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33913" y="3111252"/>
            <a:ext cx="4013895" cy="1498029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4772174" y="3607371"/>
            <a:ext cx="373737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Lambda ValueError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4772174" y="3875633"/>
            <a:ext cx="3737372" cy="5953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Python int() conversion failed on '?' — the fix was twofold: correct slot types/utterances and add defensive parsing/validation in Lambda before numeric conversion.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862831"/>
            <a:ext cx="4722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Interaction Model Fixes (Detailed)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1358950"/>
            <a:ext cx="4722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We focused on aligning slot types, utterances, and dialog elicitations with natural speech patterns.     Key changes:   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96119" y="1895401"/>
            <a:ext cx="4722763" cy="238519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Slot names standardized: </a:t>
            </a: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month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, </a:t>
            </a: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day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, </a:t>
            </a:r>
            <a:r>
              <a:rPr lang="en-US" sz="950" b="1" dirty="0">
                <a:solidFill>
                  <a:srgbClr val="404155"/>
                </a:solidFill>
                <a:latin typeface="Nobile Bold" panose="02000503050000020004" pitchFamily="34" charset="0"/>
                <a:ea typeface="Nobile Bold" panose="02000503050000020004" pitchFamily="34" charset="-122"/>
                <a:cs typeface="Nobile Bold" panose="02000503050000020004" pitchFamily="34" charset="-120"/>
              </a:rPr>
              <a:t>year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Replaced custom MONTH type with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AMAZON.Month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for robust month recognition (full and short forms).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Changed slot types: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day → AMAZON.Ordinal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(captures 'fifth', 'sixteenth'),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year → AMAZON.FOUR_DIGIT_NUMBER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,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month → AMAZON.Month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Added utterance patterns in both orders: "{month} {day} {year}" and "{day} {month} {year}" and natural variants like "January fifth twenty fifteen" to reflect real speech.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Populated user utterances for each dialog elicitation prompt so Alexa can recognize expected replies during slot elicitation (critical for dialog model completeness).</a:t>
            </a:r>
            <a:endParaRPr lang="en-US" sz="9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6430" y="-72390"/>
            <a:ext cx="3420110" cy="264414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4840" y="2341245"/>
            <a:ext cx="3368040" cy="280225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362322"/>
            <a:ext cx="4722763" cy="59114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Lambda Code &amp; Data Validation Enhancements</a:t>
            </a:r>
            <a:endParaRPr lang="en-US" sz="1850" dirty="0"/>
          </a:p>
        </p:txBody>
      </p:sp>
      <p:sp>
        <p:nvSpPr>
          <p:cNvPr id="4" name="Text 1"/>
          <p:cNvSpPr/>
          <p:nvPr/>
        </p:nvSpPr>
        <p:spPr>
          <a:xfrm>
            <a:off x="3925119" y="1122462"/>
            <a:ext cx="5179963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Backend fixes improved resilience and correctness:   </a:t>
            </a:r>
            <a:endParaRPr lang="en-US" sz="900" dirty="0"/>
          </a:p>
        </p:txBody>
      </p:sp>
      <p:sp>
        <p:nvSpPr>
          <p:cNvPr id="5" name="Shape 2"/>
          <p:cNvSpPr/>
          <p:nvPr>
            <p:custDataLst>
              <p:tags r:id="rId1"/>
            </p:custDataLst>
          </p:nvPr>
        </p:nvSpPr>
        <p:spPr>
          <a:xfrm>
            <a:off x="3925119" y="1496690"/>
            <a:ext cx="59085" cy="59085"/>
          </a:xfrm>
          <a:prstGeom prst="ellipse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>
            <p:custDataLst>
              <p:tags r:id="rId2"/>
            </p:custDataLst>
          </p:nvPr>
        </p:nvSpPr>
        <p:spPr>
          <a:xfrm>
            <a:off x="4096866" y="1433885"/>
            <a:ext cx="4551015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Defensive Parsing</a:t>
            </a:r>
            <a:endParaRPr lang="en-US" sz="1150" dirty="0"/>
          </a:p>
        </p:txBody>
      </p:sp>
      <p:sp>
        <p:nvSpPr>
          <p:cNvPr id="7" name="Text 4"/>
          <p:cNvSpPr/>
          <p:nvPr>
            <p:custDataLst>
              <p:tags r:id="rId3"/>
            </p:custDataLst>
          </p:nvPr>
        </p:nvSpPr>
        <p:spPr>
          <a:xfrm>
            <a:off x="4096866" y="1686148"/>
            <a:ext cx="4551015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Before int() conversions, verify slot values exist, normalize ordinal text to integers, and handle common ASR artifacts ('?', 'unknown').</a:t>
            </a:r>
            <a:endParaRPr lang="en-US" sz="900" dirty="0"/>
          </a:p>
        </p:txBody>
      </p:sp>
      <p:sp>
        <p:nvSpPr>
          <p:cNvPr id="8" name="Shape 5"/>
          <p:cNvSpPr/>
          <p:nvPr>
            <p:custDataLst>
              <p:tags r:id="rId4"/>
            </p:custDataLst>
          </p:nvPr>
        </p:nvSpPr>
        <p:spPr>
          <a:xfrm>
            <a:off x="3925119" y="2343671"/>
            <a:ext cx="59085" cy="59085"/>
          </a:xfrm>
          <a:prstGeom prst="ellipse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>
            <p:custDataLst>
              <p:tags r:id="rId5"/>
            </p:custDataLst>
          </p:nvPr>
        </p:nvSpPr>
        <p:spPr>
          <a:xfrm>
            <a:off x="4096866" y="2280865"/>
            <a:ext cx="4551015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Datetime Validation</a:t>
            </a:r>
            <a:endParaRPr lang="en-US" sz="1150" dirty="0"/>
          </a:p>
        </p:txBody>
      </p:sp>
      <p:sp>
        <p:nvSpPr>
          <p:cNvPr id="10" name="Text 7"/>
          <p:cNvSpPr/>
          <p:nvPr>
            <p:custDataLst>
              <p:tags r:id="rId6"/>
            </p:custDataLst>
          </p:nvPr>
        </p:nvSpPr>
        <p:spPr>
          <a:xfrm>
            <a:off x="4096866" y="2533129"/>
            <a:ext cx="4551015" cy="55408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 Python's datetime and calendar logic to validate dates and leap years (reject February 31, April 31, Feb 29 on non-leap years), returning descriptive prompts when invalid.</a:t>
            </a:r>
            <a:endParaRPr lang="en-US" sz="900" dirty="0"/>
          </a:p>
        </p:txBody>
      </p:sp>
      <p:sp>
        <p:nvSpPr>
          <p:cNvPr id="11" name="Shape 8"/>
          <p:cNvSpPr/>
          <p:nvPr>
            <p:custDataLst>
              <p:tags r:id="rId7"/>
            </p:custDataLst>
          </p:nvPr>
        </p:nvSpPr>
        <p:spPr>
          <a:xfrm>
            <a:off x="3925119" y="3375347"/>
            <a:ext cx="59085" cy="59085"/>
          </a:xfrm>
          <a:prstGeom prst="ellipse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>
            <p:custDataLst>
              <p:tags r:id="rId8"/>
            </p:custDataLst>
          </p:nvPr>
        </p:nvSpPr>
        <p:spPr>
          <a:xfrm>
            <a:off x="4096866" y="3312542"/>
            <a:ext cx="4551015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Error Handling</a:t>
            </a:r>
            <a:endParaRPr lang="en-US" sz="1150" dirty="0"/>
          </a:p>
        </p:txBody>
      </p:sp>
      <p:sp>
        <p:nvSpPr>
          <p:cNvPr id="13" name="Text 10"/>
          <p:cNvSpPr/>
          <p:nvPr>
            <p:custDataLst>
              <p:tags r:id="rId9"/>
            </p:custDataLst>
          </p:nvPr>
        </p:nvSpPr>
        <p:spPr>
          <a:xfrm>
            <a:off x="4096866" y="3564806"/>
            <a:ext cx="4551015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Catch ValueError and TypeError in Lambda, log full request JSON for debugging, and respond with a friendly re-prompt rather than failing silently.</a:t>
            </a:r>
            <a:endParaRPr lang="en-US" sz="900" dirty="0"/>
          </a:p>
        </p:txBody>
      </p:sp>
      <p:sp>
        <p:nvSpPr>
          <p:cNvPr id="14" name="Shape 11"/>
          <p:cNvSpPr/>
          <p:nvPr>
            <p:custDataLst>
              <p:tags r:id="rId10"/>
            </p:custDataLst>
          </p:nvPr>
        </p:nvSpPr>
        <p:spPr>
          <a:xfrm>
            <a:off x="3925119" y="4222328"/>
            <a:ext cx="59085" cy="59085"/>
          </a:xfrm>
          <a:prstGeom prst="ellipse">
            <a:avLst/>
          </a:prstGeom>
          <a:solidFill>
            <a:srgbClr val="4967E9"/>
          </a:solidFill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>
            <p:custDataLst>
              <p:tags r:id="rId11"/>
            </p:custDataLst>
          </p:nvPr>
        </p:nvSpPr>
        <p:spPr>
          <a:xfrm>
            <a:off x="4096866" y="4159523"/>
            <a:ext cx="4551015" cy="18469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Logging</a:t>
            </a:r>
            <a:endParaRPr lang="en-US" sz="1150" dirty="0"/>
          </a:p>
        </p:txBody>
      </p:sp>
      <p:sp>
        <p:nvSpPr>
          <p:cNvPr id="16" name="Text 13"/>
          <p:cNvSpPr/>
          <p:nvPr>
            <p:custDataLst>
              <p:tags r:id="rId12"/>
            </p:custDataLst>
          </p:nvPr>
        </p:nvSpPr>
        <p:spPr>
          <a:xfrm>
            <a:off x="4096866" y="4411787"/>
            <a:ext cx="4551015" cy="3693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90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Inspect request JSON during tests. Log recognized slot resolutions and their raw values to trace ASR mismatches vs slot type expectations.</a:t>
            </a:r>
            <a:endParaRPr lang="en-US" sz="9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63500"/>
            <a:ext cx="3499485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96119" y="1186979"/>
            <a:ext cx="4722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Speech &amp; SSML Improvements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496119" y="1683097"/>
            <a:ext cx="4722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Improving voice quality makes interactions sound professional and reduces user friction. Changes include carefully applied SSML:   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96119" y="2219548"/>
            <a:ext cx="4722763" cy="173689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&lt;break time="300ms"/&gt;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to separate phrases (e.g., between the spoken date and the zodiac result).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 </a:t>
            </a:r>
            <a:r>
              <a:rPr lang="en-US" sz="950" dirty="0">
                <a:solidFill>
                  <a:srgbClr val="404155"/>
                </a:solidFill>
                <a:highlight>
                  <a:srgbClr val="ECECF2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&lt;emphasis level="moderate"&gt;</a:t>
            </a: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for the zodiac sign to highlight the key output.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Concise, friendly phrasing: "You were born on August 16, 1990.  Your zodiac sign is Leo."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Char char="•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Fallback and reprompt messages use softer prosody to reduce perceived abruptness.</a:t>
            </a:r>
            <a:endParaRPr lang="en-US" sz="95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0" y="635"/>
            <a:ext cx="5333365" cy="506857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632073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Feature Additions: Enriched Zodiac Profile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190179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Beyond the basic sign lookup, we built a richer response package to increase engagement and demo value:   </a:t>
            </a:r>
            <a:endParaRPr lang="en-US" sz="9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28167"/>
            <a:ext cx="557213" cy="55721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08336" y="1528167"/>
            <a:ext cx="1209452" cy="3876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Personality Traits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208336" y="1990279"/>
            <a:ext cx="1209452" cy="218308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Concise, 2–3 sentence description tailored to the sign (e.g., "Leos are confident, creative, and natural leaders — they thrive on recognition and take bold initiative").</a:t>
            </a:r>
            <a:endParaRPr lang="en-US" sz="9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792" y="1528167"/>
            <a:ext cx="557213" cy="55721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85009" y="1528167"/>
            <a:ext cx="120945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Lucky Color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85009" y="1796430"/>
            <a:ext cx="1209452" cy="119077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Return the lucky color with a short usage tip (e.g., "Gold — great for accessories on presentation days").</a:t>
            </a:r>
            <a:endParaRPr lang="en-US" sz="9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9465" y="1528167"/>
            <a:ext cx="557213" cy="55721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361682" y="1528167"/>
            <a:ext cx="120945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Lucky Number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361682" y="1796430"/>
            <a:ext cx="1209452" cy="158769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Include lucky number and a short suggestion how to use it (e.g., "Consider 1 for timing decisions or milestone planning").</a:t>
            </a:r>
            <a:endParaRPr lang="en-US" sz="9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6138" y="1528167"/>
            <a:ext cx="557287" cy="55728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8430" y="1528167"/>
            <a:ext cx="120945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Compatibility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7438430" y="1796430"/>
            <a:ext cx="1209452" cy="1389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List compatible signs (e.g., "Leo is compatible with Aries and Sagittarius") with a one-sentence rationale.</a:t>
            </a:r>
            <a:endParaRPr lang="en-US" sz="950" dirty="0"/>
          </a:p>
        </p:txBody>
      </p:sp>
      <p:sp>
        <p:nvSpPr>
          <p:cNvPr id="16" name="Text 10"/>
          <p:cNvSpPr/>
          <p:nvPr/>
        </p:nvSpPr>
        <p:spPr>
          <a:xfrm>
            <a:off x="496119" y="4312890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Daily horoscope snippet included; short and actionable (one sentence) so it fits voice UX constraints.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654621"/>
            <a:ext cx="4722763" cy="6201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Book Recommendation Flow &amp; Conversational UX</a:t>
            </a:r>
            <a:endParaRPr lang="en-US" sz="1950" dirty="0"/>
          </a:p>
        </p:txBody>
      </p:sp>
      <p:sp>
        <p:nvSpPr>
          <p:cNvPr id="4" name="Text 1"/>
          <p:cNvSpPr/>
          <p:nvPr/>
        </p:nvSpPr>
        <p:spPr>
          <a:xfrm>
            <a:off x="3925119" y="1460822"/>
            <a:ext cx="4722763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We implemented a personalized recommendation engine that uses a CSV-backed knowledge base combined with in-session preferences:   </a:t>
            </a:r>
            <a:endParaRPr lang="en-US" sz="9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25119" y="1997273"/>
            <a:ext cx="310083" cy="31008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390206" y="1997273"/>
            <a:ext cx="425767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Filters Supported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4390206" y="2265536"/>
            <a:ext cx="425767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Genre, age group, language, and zodiac personality mapping to preferred genres (e.g., Leos → Fantasy).</a:t>
            </a:r>
            <a:endParaRPr lang="en-US" sz="9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925119" y="2910483"/>
            <a:ext cx="310083" cy="31008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90206" y="2910483"/>
            <a:ext cx="425767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Recommendation Metadata</a:t>
            </a:r>
            <a:endParaRPr lang="en-US" sz="1200" dirty="0"/>
          </a:p>
        </p:txBody>
      </p:sp>
      <p:sp>
        <p:nvSpPr>
          <p:cNvPr id="10" name="Text 5"/>
          <p:cNvSpPr/>
          <p:nvPr/>
        </p:nvSpPr>
        <p:spPr>
          <a:xfrm>
            <a:off x="4390206" y="3178746"/>
            <a:ext cx="425767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Return rating, reading time, and difficulty level in the spoken response and optionally as a card in the Alexa app.</a:t>
            </a:r>
            <a:endParaRPr lang="en-US" sz="9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925119" y="3823692"/>
            <a:ext cx="310083" cy="31008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90206" y="3823692"/>
            <a:ext cx="4257675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Session &amp; State</a:t>
            </a:r>
            <a:endParaRPr lang="en-US" sz="1200" dirty="0"/>
          </a:p>
        </p:txBody>
      </p:sp>
      <p:sp>
        <p:nvSpPr>
          <p:cNvPr id="13" name="Text 7"/>
          <p:cNvSpPr/>
          <p:nvPr/>
        </p:nvSpPr>
        <p:spPr>
          <a:xfrm>
            <a:off x="4390206" y="4091955"/>
            <a:ext cx="4257675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Maintain conversation_state to allow "continue exploring" or "another recommendation" flows without the user repeating context.</a:t>
            </a:r>
            <a:endParaRPr lang="en-US" sz="950" dirty="0"/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0"/>
            <a:ext cx="3702050" cy="51428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804416"/>
            <a:ext cx="8151763" cy="31008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Lessons Learned &amp; Best Practices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496119" y="1362521"/>
            <a:ext cx="8608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     Key takeaways for Alexa skill developers when building robust voice experiences:   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496119" y="1700510"/>
            <a:ext cx="8151763" cy="180461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Interaction model correctness is as important as backend logic — mismatched slot types or missing utterances often cause perceived runtime errors.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Always inspect the request JSON during debugging. The slot values and resolutions tell the real story of what Alexa heard.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Use built-in slot types whenever possible (AMAZON.Month, AMAZON.Ordinal, AMAZON.FOUR_DIGIT_NUMBER) to leverage Alexa’s recognition models.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Validate user input server-side before converting values — protect Lambda against ASR artifacts and malformed inputs.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Design for natural speech order and populate sample utterances that match how users speak (month-first patterns are common).</a:t>
            </a:r>
            <a:endParaRPr lang="en-US" sz="950" dirty="0"/>
          </a:p>
          <a:p>
            <a:pPr marL="193040" indent="-193040" algn="l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Enhance speech with SSML but keep responses concise for voice UX; include reprompts and graceful fallback language.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496119" y="3644652"/>
            <a:ext cx="8151763" cy="694432"/>
          </a:xfrm>
          <a:prstGeom prst="roundRect">
            <a:avLst>
              <a:gd name="adj" fmla="val 7502"/>
            </a:avLst>
          </a:prstGeom>
          <a:solidFill>
            <a:srgbClr val="D2D9F9"/>
          </a:solidFill>
        </p:spPr>
        <p:txBody>
          <a:bodyPr/>
          <a:lstStyle/>
          <a:p>
            <a:endParaRPr lang="en-IN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092" y="3824436"/>
            <a:ext cx="155004" cy="12397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9071" y="3799582"/>
            <a:ext cx="7624837" cy="39692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Pro tip: Add comprehensive developer logs during testing and remove or lower verbosity before production to avoid cost and log noise.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93192"/>
            <a:ext cx="8147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0">
                <a:solidFill>
                  <a:srgbClr val="1B1B27"/>
                </a:solidFill>
                <a:latin typeface="Corben"/>
              </a:rPr>
              <a:t>Feature Enhancements Beyond the Core Skill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932688"/>
            <a:ext cx="8147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/>
              </a:rPr>
              <a:t>Building on the working skill, we added four enhancements to enrich the book-recommendation experience and make the demo stand out: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207568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2276856"/>
            <a:ext cx="4014215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2368296"/>
            <a:ext cx="4014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155"/>
                </a:solidFill>
                <a:latin typeface="Corben"/>
              </a:rPr>
              <a:t>APL Visual Cards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2633472"/>
            <a:ext cx="4014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/>
              </a:rPr>
              <a:t>Rich on-screen book cards showing title, author, and cover art alongside the voice reply.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36008" y="2075688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4636008" y="2276856"/>
            <a:ext cx="4014215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36008" y="2368296"/>
            <a:ext cx="4014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155"/>
                </a:solidFill>
                <a:latin typeface="Corben"/>
              </a:rPr>
              <a:t>Multi-Language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8" y="2633472"/>
            <a:ext cx="4014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/>
              </a:rPr>
              <a:t>Request books across English, Hindi, Tamil, and Telugu within a single conversation.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" y="32461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3776" y="3447288"/>
            <a:ext cx="4014215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" y="3538727"/>
            <a:ext cx="4014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155"/>
                </a:solidFill>
                <a:latin typeface="Corben"/>
              </a:rPr>
              <a:t>Author Synonyms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" y="3803904"/>
            <a:ext cx="4014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/>
              </a:rPr>
              <a:t>Spoken name variations resolve to the correct catalogue author, reducing 'not found' errors.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008" y="3246120"/>
            <a:ext cx="36576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04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36008" y="3447288"/>
            <a:ext cx="4014215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636008" y="3538727"/>
            <a:ext cx="401421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>
                <a:solidFill>
                  <a:srgbClr val="404155"/>
                </a:solidFill>
                <a:latin typeface="Corben"/>
              </a:rPr>
              <a:t>Open Library Covers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3803904"/>
            <a:ext cx="401421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/>
              </a:rPr>
              <a:t>Live book-cover images fetched in real time from the Open Library API.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93192"/>
            <a:ext cx="8147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0">
                <a:solidFill>
                  <a:srgbClr val="1B1B27"/>
                </a:solidFill>
                <a:latin typeface="Corben"/>
              </a:rPr>
              <a:t>Enhancement: APL Visual Cards for Book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932688"/>
            <a:ext cx="8147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/>
              </a:rPr>
              <a:t>On screen-enabled Alexa devices, each recommendation now renders as a rich visual card instead of voice alone.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160020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801368"/>
            <a:ext cx="3017520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1892807"/>
            <a:ext cx="3200400" cy="191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00" b="1" dirty="0">
                <a:solidFill>
                  <a:srgbClr val="404155"/>
                </a:solidFill>
                <a:latin typeface="+mj-lt"/>
              </a:rPr>
              <a:t>   w</a:t>
            </a:r>
            <a:r>
              <a:rPr sz="1200" b="1" dirty="0">
                <a:solidFill>
                  <a:srgbClr val="404155"/>
                </a:solidFill>
                <a:latin typeface="+mj-lt"/>
              </a:rPr>
              <a:t>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2286000"/>
            <a:ext cx="32004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/>
              </a:rPr>
              <a:t>•  </a:t>
            </a:r>
            <a:r>
              <a:rPr sz="950">
                <a:solidFill>
                  <a:srgbClr val="404155"/>
                </a:solidFill>
                <a:latin typeface="Nobile"/>
              </a:rPr>
              <a:t>Shows book title, author, and cover art with the spoken reply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/>
              </a:rPr>
              <a:t>•  </a:t>
            </a:r>
            <a:r>
              <a:rPr sz="950">
                <a:solidFill>
                  <a:srgbClr val="404155"/>
                </a:solidFill>
                <a:latin typeface="Nobile"/>
              </a:rPr>
              <a:t>Genre-based accent colours make every card feel tailored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/>
              </a:rPr>
              <a:t>•  </a:t>
            </a:r>
            <a:r>
              <a:rPr sz="950">
                <a:solidFill>
                  <a:srgbClr val="404155"/>
                </a:solidFill>
                <a:latin typeface="Nobile"/>
              </a:rPr>
              <a:t>Falls back gracefully to voice-only on devices without a screen</a:t>
            </a:r>
          </a:p>
        </p:txBody>
      </p:sp>
      <p:pic>
        <p:nvPicPr>
          <p:cNvPr id="8" name="Picture 7" descr="AOL Car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2104240"/>
            <a:ext cx="4754880" cy="205515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93192"/>
            <a:ext cx="8147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0">
                <a:solidFill>
                  <a:srgbClr val="1B1B27"/>
                </a:solidFill>
                <a:latin typeface="Corben"/>
              </a:rPr>
              <a:t>Enhancement: Author Synonyms for Robust Recognition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932688"/>
            <a:ext cx="8147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/>
              </a:rPr>
              <a:t>Real-world variations of an author's name now resolve to the correct catalogue entry.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160020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801368"/>
            <a:ext cx="3017520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1892807"/>
            <a:ext cx="3200400" cy="191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00" dirty="0">
                <a:solidFill>
                  <a:srgbClr val="404155"/>
                </a:solidFill>
                <a:latin typeface="Corben"/>
              </a:rPr>
              <a:t>  </a:t>
            </a:r>
            <a:r>
              <a:rPr lang="en-US" sz="1200" b="1" dirty="0">
                <a:solidFill>
                  <a:srgbClr val="404155"/>
                </a:solidFill>
              </a:rPr>
              <a:t>w</a:t>
            </a:r>
            <a:r>
              <a:rPr sz="1200" b="1" dirty="0">
                <a:solidFill>
                  <a:srgbClr val="404155"/>
                </a:solidFill>
              </a:rPr>
              <a:t>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2286000"/>
            <a:ext cx="32004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/>
              </a:rPr>
              <a:t>•  </a:t>
            </a:r>
            <a:r>
              <a:rPr sz="950">
                <a:solidFill>
                  <a:srgbClr val="404155"/>
                </a:solidFill>
                <a:latin typeface="Nobile"/>
              </a:rPr>
              <a:t>Synonyms map spoken variants (e.g. 'J. K. Rowling' -&gt; 'j k rowling')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/>
              </a:rPr>
              <a:t>•  </a:t>
            </a:r>
            <a:r>
              <a:rPr sz="950">
                <a:solidFill>
                  <a:srgbClr val="404155"/>
                </a:solidFill>
                <a:latin typeface="Nobile"/>
              </a:rPr>
              <a:t>Reduces 'author not found' failures caused by speech-to-text spelling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/>
              </a:rPr>
              <a:t>•  </a:t>
            </a:r>
            <a:r>
              <a:rPr sz="950">
                <a:solidFill>
                  <a:srgbClr val="404155"/>
                </a:solidFill>
                <a:latin typeface="Nobile"/>
              </a:rPr>
              <a:t>The same robustness approach is mirrored in the Python chatbot</a:t>
            </a:r>
          </a:p>
        </p:txBody>
      </p:sp>
      <p:pic>
        <p:nvPicPr>
          <p:cNvPr id="8" name="Picture 7" descr="synonym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949992"/>
            <a:ext cx="4754880" cy="236365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93192"/>
            <a:ext cx="8147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0">
                <a:solidFill>
                  <a:srgbClr val="1B1B27"/>
                </a:solidFill>
                <a:latin typeface="Corben"/>
              </a:rPr>
              <a:t>Enhancement: Multi-Language Book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932688"/>
            <a:ext cx="8147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/>
              </a:rPr>
              <a:t>Users can ask for books in more than one language within a single conversation.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160020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801368"/>
            <a:ext cx="3017520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1901952"/>
            <a:ext cx="3200400" cy="191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00" dirty="0">
                <a:solidFill>
                  <a:srgbClr val="404155"/>
                </a:solidFill>
                <a:latin typeface="Corben"/>
              </a:rPr>
              <a:t>  </a:t>
            </a:r>
            <a:r>
              <a:rPr lang="en-US" sz="1200" b="1" dirty="0">
                <a:solidFill>
                  <a:srgbClr val="404155"/>
                </a:solidFill>
              </a:rPr>
              <a:t>w</a:t>
            </a:r>
            <a:r>
              <a:rPr sz="1200" b="1" dirty="0">
                <a:solidFill>
                  <a:srgbClr val="404155"/>
                </a:solidFill>
              </a:rPr>
              <a:t>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2286000"/>
            <a:ext cx="32004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/>
              </a:rPr>
              <a:t>•  </a:t>
            </a:r>
            <a:r>
              <a:rPr sz="950">
                <a:solidFill>
                  <a:srgbClr val="404155"/>
                </a:solidFill>
                <a:latin typeface="Nobile"/>
              </a:rPr>
              <a:t>Supports English, Hindi, Tamil, and Telugu from one dialogue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/>
              </a:rPr>
              <a:t>•  </a:t>
            </a:r>
            <a:r>
              <a:rPr sz="950">
                <a:solidFill>
                  <a:srgbClr val="404155"/>
                </a:solidFill>
                <a:latin typeface="Nobile"/>
              </a:rPr>
              <a:t>Language captured as a slot and combined with genre and age filters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/>
              </a:rPr>
              <a:t>•  </a:t>
            </a:r>
            <a:r>
              <a:rPr sz="950">
                <a:solidFill>
                  <a:srgbClr val="404155"/>
                </a:solidFill>
                <a:latin typeface="Nobile"/>
              </a:rPr>
              <a:t>Broadens the skill's reach to multilingual readers</a:t>
            </a:r>
          </a:p>
        </p:txBody>
      </p:sp>
      <p:pic>
        <p:nvPicPr>
          <p:cNvPr id="8" name="Picture 7" descr="Multi-Langu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8977" y="1463040"/>
            <a:ext cx="4160765" cy="333756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93776" y="393192"/>
            <a:ext cx="8147304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1950" b="0">
                <a:solidFill>
                  <a:srgbClr val="1B1B27"/>
                </a:solidFill>
                <a:latin typeface="Corben"/>
              </a:rPr>
              <a:t>Enhancement: Live Cover Art via the Open Library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93776" y="932688"/>
            <a:ext cx="8147304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Nobile"/>
              </a:rPr>
              <a:t>Book covers are fetched in real time from the Open Library API to enrich the visual card.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93776" y="1600200"/>
            <a:ext cx="32004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>
                <a:solidFill>
                  <a:srgbClr val="404155"/>
                </a:solidFill>
                <a:latin typeface="Corben Light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493776" y="1801368"/>
            <a:ext cx="3017520" cy="18288"/>
          </a:xfrm>
          <a:prstGeom prst="rect">
            <a:avLst/>
          </a:prstGeom>
          <a:solidFill>
            <a:srgbClr val="4967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93776" y="1938744"/>
            <a:ext cx="3200400" cy="19159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lang="en-US" sz="1200" b="1" dirty="0">
                <a:solidFill>
                  <a:srgbClr val="404155"/>
                </a:solidFill>
              </a:rPr>
              <a:t>  w</a:t>
            </a:r>
            <a:r>
              <a:rPr sz="1200" b="1" dirty="0">
                <a:solidFill>
                  <a:srgbClr val="404155"/>
                </a:solidFill>
              </a:rPr>
              <a:t>hy it matters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" y="2286000"/>
            <a:ext cx="320040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/>
              </a:rPr>
              <a:t>•  </a:t>
            </a:r>
            <a:r>
              <a:rPr sz="950">
                <a:solidFill>
                  <a:srgbClr val="404155"/>
                </a:solidFill>
                <a:latin typeface="Nobile"/>
              </a:rPr>
              <a:t>Calls Open Library to retrieve cover images by title and author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/>
              </a:rPr>
              <a:t>•  </a:t>
            </a:r>
            <a:r>
              <a:rPr sz="950">
                <a:solidFill>
                  <a:srgbClr val="404155"/>
                </a:solidFill>
                <a:latin typeface="Nobile"/>
              </a:rPr>
              <a:t>Keeps the catalogue lightweight - no need to store image files</a:t>
            </a:r>
          </a:p>
          <a:p>
            <a:pPr>
              <a:lnSpc>
                <a:spcPct val="108000"/>
              </a:lnSpc>
              <a:spcBef>
                <a:spcPts val="0"/>
              </a:spcBef>
              <a:spcAft>
                <a:spcPts val="800"/>
              </a:spcAft>
            </a:pPr>
            <a:r>
              <a:rPr sz="950">
                <a:solidFill>
                  <a:srgbClr val="4967E9"/>
                </a:solidFill>
                <a:latin typeface="Nobile"/>
              </a:rPr>
              <a:t>•  </a:t>
            </a:r>
            <a:r>
              <a:rPr sz="950">
                <a:solidFill>
                  <a:srgbClr val="404155"/>
                </a:solidFill>
                <a:latin typeface="Nobile"/>
              </a:rPr>
              <a:t>Delivers a polished, professional look for the live demo</a:t>
            </a:r>
          </a:p>
        </p:txBody>
      </p:sp>
      <p:pic>
        <p:nvPicPr>
          <p:cNvPr id="8" name="Picture 7" descr="calling-openlibr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697304"/>
            <a:ext cx="4754880" cy="286903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25119" y="1042169"/>
            <a:ext cx="4722763" cy="62016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Project Status, Next Steps, and Hackathon Checklist</a:t>
            </a:r>
            <a:endParaRPr lang="en-US" sz="1950" dirty="0"/>
          </a:p>
        </p:txBody>
      </p:sp>
      <p:sp>
        <p:nvSpPr>
          <p:cNvPr id="4" name="Shape 1"/>
          <p:cNvSpPr/>
          <p:nvPr/>
        </p:nvSpPr>
        <p:spPr>
          <a:xfrm>
            <a:off x="3925119" y="1848371"/>
            <a:ext cx="2299395" cy="1914971"/>
          </a:xfrm>
          <a:prstGeom prst="roundRect">
            <a:avLst>
              <a:gd name="adj" fmla="val 272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053855" y="1977107"/>
            <a:ext cx="204192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Completed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053855" y="2245370"/>
            <a:ext cx="2041922" cy="1389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Birthday→Zodiac detection, personality details, horoscope, book recommendations (genre/age/language), multi-turn flow, graceful exits, help/fallback intents, session state management, CSV integration.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6348487" y="1848371"/>
            <a:ext cx="2299395" cy="1914971"/>
          </a:xfrm>
          <a:prstGeom prst="roundRect">
            <a:avLst>
              <a:gd name="adj" fmla="val 2721"/>
            </a:avLst>
          </a:prstGeom>
          <a:solidFill>
            <a:srgbClr val="D2D9F9"/>
          </a:solidFill>
          <a:ln w="4763">
            <a:solidFill>
              <a:srgbClr val="B8BF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477223" y="1977107"/>
            <a:ext cx="2041922" cy="19384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404155"/>
                </a:solidFill>
                <a:latin typeface="Corben" panose="020F0503020000020004" pitchFamily="34" charset="0"/>
                <a:ea typeface="Corben" panose="020F0503020000020004" pitchFamily="34" charset="-122"/>
                <a:cs typeface="Corben" panose="020F0503020000020004" pitchFamily="34" charset="-120"/>
              </a:rPr>
              <a:t>Potential Enhancements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6477223" y="2245370"/>
            <a:ext cx="2041922" cy="138923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950" dirty="0">
                <a:solidFill>
                  <a:srgbClr val="404155"/>
                </a:solidFill>
                <a:latin typeface="Nobile" panose="02000503050000020004" pitchFamily="34" charset="0"/>
                <a:ea typeface="Nobile" panose="02000503050000020004" pitchFamily="34" charset="-122"/>
                <a:cs typeface="Nobile" panose="02000503050000020004" pitchFamily="34" charset="-120"/>
              </a:rPr>
              <a:t>Multiple recommendation candidates, rating-based sorting, mood-based suggestions, memory of past recommendations to avoid repeats, merging preferences into a single recommendation engine.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925119" y="3902869"/>
            <a:ext cx="5179963" cy="19846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95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3835" y="635"/>
            <a:ext cx="4128770" cy="497078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63.56637795275594,&quot;left&quot;:309.0644881889764,&quot;top&quot;:112.9043307086614,&quot;width&quot;:371.8710236220472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2020</Words>
  <Application>Microsoft Office PowerPoint</Application>
  <PresentationFormat>On-screen Show (16:9)</PresentationFormat>
  <Paragraphs>187</Paragraphs>
  <Slides>19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Corben Light</vt:lpstr>
      <vt:lpstr>Nobile</vt:lpstr>
      <vt:lpstr>Nobile Bold</vt:lpstr>
      <vt:lpstr>Consolas</vt:lpstr>
      <vt:lpstr>Corben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Jataansh Scandaansh</cp:lastModifiedBy>
  <cp:revision>14</cp:revision>
  <dcterms:created xsi:type="dcterms:W3CDTF">2026-07-13T14:23:00Z</dcterms:created>
  <dcterms:modified xsi:type="dcterms:W3CDTF">2026-07-18T09:57:39Z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1C9B6235EA2445BEA350FA12723820E3_12</vt:lpwstr>
  </property>
  <property fmtid="{D5CDD505-2E9C-101B-9397-08002B2CF9AE}" pid="3" name="KSOProductBuildVer">
    <vt:lpwstr>2057-12.2.0.23206</vt:lpwstr>
  </property>
</Properties>
</file>