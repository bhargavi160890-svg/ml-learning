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1" r:id="rId9"/>
    <p:sldId id="262" r:id="rId10"/>
    <p:sldId id="260" r:id="rId11"/>
    <p:sldId id="263" r:id="rId12"/>
    <p:sldId id="264" r:id="rId13"/>
    <p:sldId id="265" r:id="rId14"/>
  </p:sldIdLst>
  <p:sldSz cx="9144000" cy="5143500" type="screen16x9"/>
  <p:notesSz cx="5143500" cy="9144000"/>
  <p:embeddedFontLst>
    <p:embeddedFont>
      <p:font typeface="Instrument Sans Medium" pitchFamily="34" charset="0"/>
      <p:regular r:id="rId18"/>
    </p:embeddedFont>
    <p:embeddedFont>
      <p:font typeface="Instrument Sans Medium" pitchFamily="34" charset="-122"/>
      <p:regular r:id="rId19"/>
    </p:embeddedFont>
    <p:embeddedFont>
      <p:font typeface="Instrument Sans Medium" pitchFamily="34" charset="-120"/>
      <p:regular r:id="rId20"/>
    </p:embeddedFont>
    <p:embeddedFont>
      <p:font typeface="Inter" panose="02000503000000020004" pitchFamily="34" charset="0"/>
      <p:regular r:id="rId21"/>
    </p:embeddedFont>
    <p:embeddedFont>
      <p:font typeface="Inter" panose="02000503000000020004" pitchFamily="34" charset="-122"/>
      <p:regular r:id="rId22"/>
    </p:embeddedFont>
    <p:embeddedFont>
      <p:font typeface="Inter" panose="02000503000000020004" pitchFamily="34" charset="-120"/>
      <p:regular r:id="rId23"/>
    </p:embeddedFont>
    <p:embeddedFont>
      <p:font typeface="Instrument Sans Medium"/>
      <p:regular r:id="rId24"/>
    </p:embeddedFont>
    <p:embeddedFont>
      <p:font typeface="Inter" panose="02000503000000020004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242789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Chatbot 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98377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7877" y="2040136"/>
            <a:ext cx="20069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Scope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346647"/>
            <a:ext cx="200694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What was added to enable book_suggestion intent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98377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070101" y="2040136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346647"/>
            <a:ext cx="20070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Utterances, slot files, CSV, params.cfg, tests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7877" y="3225552"/>
            <a:ext cx="44392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Outcome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532063"/>
            <a:ext cx="443924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Intent handling, slot extraction, action functions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425" y="0"/>
            <a:ext cx="3584575" cy="509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1529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Files for book_suggestion Intent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376586"/>
            <a:ext cx="409798" cy="4097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6679" y="1376586"/>
            <a:ext cx="127590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book_suggestion.dat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336679" y="1961257"/>
            <a:ext cx="127590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61 training utterances 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762" y="1376586"/>
            <a:ext cx="409798" cy="4097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6740" y="1376586"/>
            <a:ext cx="127590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Slots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76740" y="1739801"/>
            <a:ext cx="127590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age_group.dat (9), language.dat (4), genre.dat (10)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2703761"/>
            <a:ext cx="409798" cy="4097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36679" y="2703761"/>
            <a:ext cx="127590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Book_suggestions.csv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336679" y="3288432"/>
            <a:ext cx="127590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30 book-author-language-genre rows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762" y="2703761"/>
            <a:ext cx="409798" cy="4097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76740" y="2703761"/>
            <a:ext cx="127590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params.cfg (updated)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7376740" y="3288432"/>
            <a:ext cx="127590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Adds book_suggestion intent + bookSuggestion_Action()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" y="1376680"/>
            <a:ext cx="5064760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54298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Dialogue Engine &amp; Flow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552873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7877" y="1694631"/>
            <a:ext cx="20069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 Slot Extraction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001143"/>
            <a:ext cx="200694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getattributes() reads *.dat, matches slots, replaces text with $slot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552873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070101" y="1694631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2. Intent Classification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001143"/>
            <a:ext cx="2007022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TF-IDF + MultinomialNB  trained on 100 utterances, accuracy = 1.0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965103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7877" y="3106862"/>
            <a:ext cx="2006947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 Intent Loading &amp; Slot Check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634829"/>
            <a:ext cx="200694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loadIntent() + check_required_params() → prompts if missing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8342" y="2965103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434348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070101" y="3106862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4. Actions &amp; Session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70101" y="3413373"/>
            <a:ext cx="2007022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bookSuggestion_Action()/zodiacSign_Action() set IntentComplete; Session.reply() manages state 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1305" y="0"/>
            <a:ext cx="38487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811039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 Visual: Process Steps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5119" y="1909614"/>
            <a:ext cx="4722763" cy="20365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42912" y="3559969"/>
            <a:ext cx="1077983" cy="1339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Management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242912" y="3088537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Slot Filling &amp; Action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242912" y="2621868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Intent Classification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242912" y="2150436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Slot Extraction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925119" y="4105647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693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/>
          <p:nvPr/>
        </p:nvSpPr>
        <p:spPr>
          <a:xfrm>
            <a:off x="4242912" y="2621868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Intent Classification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925119" y="4105647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" y="-47625"/>
            <a:ext cx="4426585" cy="5143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0" y="-13970"/>
            <a:ext cx="4241165" cy="510984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4243070" y="166370"/>
            <a:ext cx="813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    T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4505960" y="815975"/>
            <a:ext cx="29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E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521835" y="1548130"/>
            <a:ext cx="290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S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572000" y="2367915"/>
            <a:ext cx="313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T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638675" y="30289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I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4521835" y="3696970"/>
            <a:ext cx="3164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N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579620" y="4500880"/>
            <a:ext cx="308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>
                <a:solidFill>
                  <a:schemeClr val="bg1"/>
                </a:solidFill>
                <a:uFillTx/>
              </a:rPr>
              <a:t>G</a:t>
            </a:r>
            <a:endParaRPr lang="en-IN" altLang="en-GB">
              <a:solidFill>
                <a:schemeClr val="bg1"/>
              </a:solidFill>
              <a:uFillTx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54600" cy="5064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360" y="504190"/>
            <a:ext cx="4015740" cy="3887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81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Hackathon Deliverables &amp; Demo Flows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117402"/>
            <a:ext cx="3257327" cy="3564210"/>
          </a:xfrm>
          <a:prstGeom prst="roundRect">
            <a:avLst>
              <a:gd name="adj" fmla="val 653"/>
            </a:avLst>
          </a:prstGeom>
          <a:solidFill>
            <a:srgbClr val="FDC4C4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35781" y="1718593"/>
            <a:ext cx="297380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Checklist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81808"/>
            <a:ext cx="2973809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Tasks: dat + slots + CSV, TF-IDF model, actions, tests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662982"/>
            <a:ext cx="2973809" cy="15095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book_suggestion.dat + slots + params.cfg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Book_suggestions.csv 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TF-IDF + MultinomialNB (100%  utterances)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Actions implemented  + tests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9892" y="1276871"/>
            <a:ext cx="4752677" cy="9116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36901" y="1437680"/>
            <a:ext cx="435486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Flow 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36901" y="1800895"/>
            <a:ext cx="435486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suggest a book → kids→ English → fantasy → book result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9892" y="2330276"/>
            <a:ext cx="4752677" cy="9116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36901" y="2491085"/>
            <a:ext cx="435486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Flow 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36901" y="2854300"/>
            <a:ext cx="435486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zodiac: 15 July 1990 → Cancer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892" y="3383682"/>
            <a:ext cx="4752677" cy="1138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36901" y="3544491"/>
            <a:ext cx="435486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Flow 3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136901" y="3907706"/>
            <a:ext cx="4354860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Start book intent → switch to zodiac mid-flow → intent switch works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457200"/>
            <a:ext cx="8147304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50">
                <a:solidFill>
                  <a:srgbClr val="EFD5FA"/>
                </a:solidFill>
                <a:latin typeface="Instrument Sans Medium"/>
              </a:rPr>
              <a:t>Measuring Intent Classification Accuracy</a:t>
            </a:r>
            <a:endParaRPr sz="2750">
              <a:solidFill>
                <a:srgbClr val="EFD5FA"/>
              </a:solidFill>
              <a:latin typeface="Instrument Sans Medium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3776" y="1481328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18488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C7CDD6"/>
                </a:solidFill>
                <a:latin typeface="Instrument Sans Medium"/>
              </a:rPr>
              <a:t>Approach</a:t>
            </a:r>
            <a:endParaRPr sz="1350" b="0">
              <a:solidFill>
                <a:srgbClr val="C7CDD6"/>
              </a:solidFill>
              <a:latin typeface="Instrument Sans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56816"/>
            <a:ext cx="20391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TF-IDF (uni + bi-grams) over every .dat utterance; the file name is the intent label.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26080" y="1481328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72384" y="1618488"/>
            <a:ext cx="2039112" cy="206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>
                <a:solidFill>
                  <a:srgbClr val="C7CDD6"/>
                </a:solidFill>
                <a:latin typeface="Instrument Sans Medium"/>
              </a:rPr>
              <a:t>Held</a:t>
            </a:r>
            <a:r>
              <a:rPr lang="en-US" sz="1350" b="0" dirty="0">
                <a:solidFill>
                  <a:srgbClr val="C7CDD6"/>
                </a:solidFill>
                <a:latin typeface="Instrument Sans Medium"/>
              </a:rPr>
              <a:t> </a:t>
            </a:r>
            <a:r>
              <a:rPr sz="1350" b="0" dirty="0">
                <a:solidFill>
                  <a:srgbClr val="C7CDD6"/>
                </a:solidFill>
                <a:latin typeface="Instrument Sans Medium"/>
              </a:rPr>
              <a:t>out </a:t>
            </a:r>
            <a:r>
              <a:rPr lang="en-US" sz="1350" b="0" dirty="0">
                <a:solidFill>
                  <a:srgbClr val="C7CDD6"/>
                </a:solidFill>
                <a:latin typeface="Instrument Sans Medium"/>
              </a:rPr>
              <a:t> </a:t>
            </a:r>
            <a:r>
              <a:rPr lang="en-US" sz="1350" dirty="0">
                <a:solidFill>
                  <a:srgbClr val="C7CDD6"/>
                </a:solidFill>
                <a:latin typeface="Instrument Sans Medium"/>
              </a:rPr>
              <a:t>t</a:t>
            </a:r>
            <a:r>
              <a:rPr sz="1350" b="0" dirty="0">
                <a:solidFill>
                  <a:srgbClr val="C7CDD6"/>
                </a:solidFill>
                <a:latin typeface="Instrument Sans Medium"/>
              </a:rPr>
              <a:t>est</a:t>
            </a:r>
            <a:endParaRPr sz="1350" b="0" dirty="0">
              <a:solidFill>
                <a:srgbClr val="C7CDD6"/>
              </a:solidFill>
              <a:latin typeface="Instrument Sans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2384" y="1956816"/>
            <a:ext cx="2039112" cy="545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7CDD6"/>
                </a:solidFill>
                <a:latin typeface="Inter" panose="02000503000000020004"/>
              </a:rPr>
              <a:t>75 / 25 stratified split - precision, recall and F1 all 1.00.</a:t>
            </a:r>
            <a:endParaRPr sz="1100" b="0" dirty="0">
              <a:solidFill>
                <a:srgbClr val="C7CDD6"/>
              </a:solidFill>
              <a:latin typeface="Inter" panose="020005030000000200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3776" y="3108960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039112" cy="208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dirty="0">
                <a:solidFill>
                  <a:srgbClr val="C7CDD6"/>
                </a:solidFill>
                <a:latin typeface="Instrument Sans Medium"/>
              </a:rPr>
              <a:t>   </a:t>
            </a:r>
            <a:r>
              <a:rPr lang="en-US" sz="1350" dirty="0">
                <a:solidFill>
                  <a:srgbClr val="C7CDD6"/>
                </a:solidFill>
              </a:rPr>
              <a:t>5- </a:t>
            </a:r>
            <a:r>
              <a:rPr sz="1350" b="0" dirty="0">
                <a:solidFill>
                  <a:srgbClr val="C7CDD6"/>
                </a:solidFill>
                <a:latin typeface="Instrument Sans Medium"/>
              </a:rPr>
              <a:t>Fold Cross</a:t>
            </a:r>
            <a:r>
              <a:rPr lang="en-US" sz="1350" b="0" dirty="0">
                <a:solidFill>
                  <a:srgbClr val="C7CDD6"/>
                </a:solidFill>
                <a:latin typeface="Instrument Sans Medium"/>
              </a:rPr>
              <a:t> </a:t>
            </a:r>
            <a:r>
              <a:rPr sz="1350" b="0" dirty="0">
                <a:solidFill>
                  <a:srgbClr val="C7CDD6"/>
                </a:solidFill>
                <a:latin typeface="Instrument Sans Medium"/>
              </a:rPr>
              <a:t>Validation</a:t>
            </a:r>
            <a:endParaRPr sz="1350" b="0" dirty="0">
              <a:solidFill>
                <a:srgbClr val="C7CDD6"/>
              </a:solidFill>
              <a:latin typeface="Instrument Sans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20391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Mean accuracy 100% (+/- 0%) - confirms it isn't a lucky split.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6080" y="3108960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3246120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C7CDD6"/>
                </a:solidFill>
                <a:latin typeface="Instrument Sans Medium"/>
              </a:rPr>
              <a:t>Model Comparison</a:t>
            </a:r>
            <a:endParaRPr sz="1350" b="0">
              <a:solidFill>
                <a:srgbClr val="C7CDD6"/>
              </a:solidFill>
              <a:latin typeface="Instrument Sans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2384" y="3584448"/>
            <a:ext cx="2039112" cy="545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7CDD6"/>
                </a:solidFill>
              </a:rPr>
              <a:t>Count vs TF-IDF x </a:t>
            </a:r>
            <a:r>
              <a:rPr lang="en-US" sz="1100" dirty="0">
                <a:solidFill>
                  <a:srgbClr val="C7CDD6"/>
                </a:solidFill>
              </a:rPr>
              <a:t>Logistic regression</a:t>
            </a:r>
            <a:r>
              <a:rPr sz="1100" b="0" dirty="0">
                <a:solidFill>
                  <a:srgbClr val="C7CDD6"/>
                </a:solidFill>
              </a:rPr>
              <a:t>/ </a:t>
            </a:r>
            <a:r>
              <a:rPr sz="1100" b="0" dirty="0" err="1">
                <a:solidFill>
                  <a:srgbClr val="C7CDD6"/>
                </a:solidFill>
              </a:rPr>
              <a:t>NaiveBayes</a:t>
            </a:r>
            <a:r>
              <a:rPr sz="1100" b="0" dirty="0">
                <a:solidFill>
                  <a:srgbClr val="C7CDD6"/>
                </a:solidFill>
              </a:rPr>
              <a:t> / SVM - best combination selected.</a:t>
            </a:r>
            <a:endParaRPr sz="1100" b="0" dirty="0">
              <a:solidFill>
                <a:srgbClr val="C7CDD6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394960" y="1481328"/>
            <a:ext cx="3246120" cy="3108960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984248"/>
            <a:ext cx="3246120" cy="1066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6600" dirty="0">
                <a:solidFill>
                  <a:srgbClr val="EFD5FA"/>
                </a:solidFill>
                <a:latin typeface="Instrument Sans Medium"/>
              </a:rPr>
              <a:t>1</a:t>
            </a:r>
            <a:r>
              <a:rPr sz="6600" b="0" dirty="0">
                <a:solidFill>
                  <a:srgbClr val="EFD5FA"/>
                </a:solidFill>
                <a:latin typeface="Instrument Sans Medium"/>
              </a:rPr>
              <a:t>0</a:t>
            </a:r>
            <a:r>
              <a:rPr lang="en-IN" sz="6600" b="0" dirty="0">
                <a:solidFill>
                  <a:srgbClr val="EFD5FA"/>
                </a:solidFill>
                <a:latin typeface="Instrument Sans Medium"/>
              </a:rPr>
              <a:t>0</a:t>
            </a:r>
            <a:r>
              <a:rPr sz="6600" b="0" dirty="0">
                <a:solidFill>
                  <a:srgbClr val="EFD5FA"/>
                </a:solidFill>
                <a:latin typeface="Instrument Sans Medium"/>
              </a:rPr>
              <a:t>%</a:t>
            </a:r>
            <a:endParaRPr sz="6600" b="0" dirty="0">
              <a:solidFill>
                <a:srgbClr val="EFD5FA"/>
              </a:solidFill>
              <a:latin typeface="Instrument Sans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4960" y="3264408"/>
            <a:ext cx="3246120" cy="217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b="0" dirty="0">
                <a:solidFill>
                  <a:srgbClr val="C7CDD6"/>
                </a:solidFill>
              </a:rPr>
              <a:t>Cross-validated accuracy</a:t>
            </a:r>
            <a:endParaRPr sz="1400" b="0" dirty="0">
              <a:solidFill>
                <a:srgbClr val="C7CDD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0" y="3767328"/>
            <a:ext cx="26974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7CDD6"/>
                </a:solidFill>
                <a:latin typeface="Inter" panose="02000503000000020004"/>
              </a:rPr>
              <a:t>2 intents  -  114 utterances  -  TF-IDF features</a:t>
            </a:r>
            <a:endParaRPr sz="1050" b="0">
              <a:solidFill>
                <a:srgbClr val="C7CDD6"/>
              </a:solidFill>
              <a:latin typeface="Inter" panose="020005030000000200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" y="4681728"/>
            <a:ext cx="8147304" cy="152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dirty="0">
                <a:solidFill>
                  <a:srgbClr val="C7CDD6"/>
                </a:solidFill>
                <a:latin typeface="Inter" panose="02000503000000020004"/>
              </a:rPr>
              <a:t>The score is high because the two intents use near-</a:t>
            </a:r>
            <a:r>
              <a:rPr sz="950" b="0" dirty="0">
                <a:solidFill>
                  <a:srgbClr val="C7CDD6"/>
                </a:solidFill>
              </a:rPr>
              <a:t>disjoint</a:t>
            </a:r>
            <a:r>
              <a:rPr sz="950" b="0" dirty="0">
                <a:solidFill>
                  <a:srgbClr val="C7CDD6"/>
                </a:solidFill>
                <a:latin typeface="Inter" panose="02000503000000020004"/>
              </a:rPr>
              <a:t> vocabulary; overlapping intents would need confidence thresholds.</a:t>
            </a:r>
            <a:endParaRPr sz="950" b="0" dirty="0">
              <a:solidFill>
                <a:srgbClr val="C7CDD6"/>
              </a:solidFill>
              <a:latin typeface="Inter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457200"/>
            <a:ext cx="8147304" cy="46935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50" dirty="0">
                <a:solidFill>
                  <a:srgbClr val="EFD5FA"/>
                </a:solidFill>
              </a:rPr>
              <a:t>Robust Slot Filling: Synonyms &amp; Fuzzy Matching</a:t>
            </a:r>
            <a:endParaRPr sz="2750" dirty="0">
              <a:solidFill>
                <a:srgbClr val="EFD5FA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3776" y="1481328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618488"/>
            <a:ext cx="2039112" cy="209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>
                <a:solidFill>
                  <a:srgbClr val="C7CDD6"/>
                </a:solidFill>
              </a:rPr>
              <a:t>The Problem</a:t>
            </a:r>
            <a:endParaRPr sz="1350" b="0" dirty="0">
              <a:solidFill>
                <a:srgbClr val="C7CDD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56816"/>
            <a:ext cx="20391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Baseline slot matching needs an exact word; real users use synonyms and make typos.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26080" y="1481328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72384" y="1618488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C7CDD6"/>
                </a:solidFill>
                <a:latin typeface="Instrument Sans Medium"/>
              </a:rPr>
              <a:t>Synonym Map</a:t>
            </a:r>
            <a:endParaRPr sz="1350" b="0">
              <a:solidFill>
                <a:srgbClr val="C7CDD6"/>
              </a:solidFill>
              <a:latin typeface="Instrument Sans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2384" y="1956816"/>
            <a:ext cx="2039112" cy="54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7CDD6"/>
                </a:solidFill>
              </a:rPr>
              <a:t>'sci-fi' -&gt; fantasy, 'children' -&gt; kids, 'scary' -&gt; horror; </a:t>
            </a:r>
            <a:r>
              <a:rPr sz="1100" b="0" dirty="0" err="1">
                <a:solidFill>
                  <a:srgbClr val="C7CDD6"/>
                </a:solidFill>
              </a:rPr>
              <a:t>normalised</a:t>
            </a:r>
            <a:r>
              <a:rPr sz="1100" b="0" dirty="0">
                <a:solidFill>
                  <a:srgbClr val="C7CDD6"/>
                </a:solidFill>
              </a:rPr>
              <a:t> to the canonical CSV value.</a:t>
            </a:r>
            <a:endParaRPr sz="1100" b="0" dirty="0">
              <a:solidFill>
                <a:srgbClr val="C7CDD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3776" y="3108960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039112" cy="208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>
                <a:solidFill>
                  <a:srgbClr val="C7CDD6"/>
                </a:solidFill>
              </a:rPr>
              <a:t>Fuzzy</a:t>
            </a:r>
            <a:r>
              <a:rPr sz="1350" b="0" dirty="0">
                <a:solidFill>
                  <a:srgbClr val="C7CDD6"/>
                </a:solidFill>
                <a:latin typeface="Instrument Sans Medium"/>
              </a:rPr>
              <a:t> Fallback</a:t>
            </a:r>
            <a:endParaRPr sz="1350" b="0" dirty="0">
              <a:solidFill>
                <a:srgbClr val="C7CDD6"/>
              </a:solidFill>
              <a:latin typeface="Instrument Sans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2039112" cy="54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C7CDD6"/>
                </a:solidFill>
              </a:rPr>
              <a:t>difflib</a:t>
            </a:r>
            <a:r>
              <a:rPr sz="1100" b="0" dirty="0">
                <a:solidFill>
                  <a:srgbClr val="C7CDD6"/>
                </a:solidFill>
              </a:rPr>
              <a:t> corrects typos (</a:t>
            </a:r>
            <a:r>
              <a:rPr sz="1100" b="0" dirty="0" err="1">
                <a:solidFill>
                  <a:srgbClr val="C7CDD6"/>
                </a:solidFill>
              </a:rPr>
              <a:t>romence</a:t>
            </a:r>
            <a:r>
              <a:rPr sz="1100" b="0" dirty="0">
                <a:solidFill>
                  <a:srgbClr val="C7CDD6"/>
                </a:solidFill>
              </a:rPr>
              <a:t> -&gt; romance, </a:t>
            </a:r>
            <a:r>
              <a:rPr sz="1100" b="0" dirty="0" err="1">
                <a:solidFill>
                  <a:srgbClr val="C7CDD6"/>
                </a:solidFill>
              </a:rPr>
              <a:t>englsh</a:t>
            </a:r>
            <a:r>
              <a:rPr sz="1100" b="0" dirty="0">
                <a:solidFill>
                  <a:srgbClr val="C7CDD6"/>
                </a:solidFill>
              </a:rPr>
              <a:t> -&gt; </a:t>
            </a:r>
            <a:r>
              <a:rPr sz="1100" b="0" dirty="0" err="1">
                <a:solidFill>
                  <a:srgbClr val="C7CDD6"/>
                </a:solidFill>
              </a:rPr>
              <a:t>english</a:t>
            </a:r>
            <a:r>
              <a:rPr sz="1100" b="0" dirty="0">
                <a:solidFill>
                  <a:srgbClr val="C7CDD6"/>
                </a:solidFill>
              </a:rPr>
              <a:t>) for the active intent's slots.</a:t>
            </a:r>
            <a:endParaRPr sz="1100" b="0" dirty="0">
              <a:solidFill>
                <a:srgbClr val="C7CDD6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6080" y="3108960"/>
            <a:ext cx="2331720" cy="1481328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3246120"/>
            <a:ext cx="2039112" cy="209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>
                <a:solidFill>
                  <a:srgbClr val="C7CDD6"/>
                </a:solidFill>
              </a:rPr>
              <a:t>Guardrails</a:t>
            </a:r>
            <a:endParaRPr sz="1350" b="0" dirty="0">
              <a:solidFill>
                <a:srgbClr val="C7CDD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2384" y="3584448"/>
            <a:ext cx="2039112" cy="54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7CDD6"/>
                </a:solidFill>
              </a:rPr>
              <a:t>Cutoff 0.85 and skip words under 4 chars, so stop-words like 'in' can't match '</a:t>
            </a:r>
            <a:r>
              <a:rPr sz="1100" b="0" dirty="0" err="1">
                <a:solidFill>
                  <a:srgbClr val="C7CDD6"/>
                </a:solidFill>
              </a:rPr>
              <a:t>hin</a:t>
            </a:r>
            <a:r>
              <a:rPr sz="1100" b="0" dirty="0">
                <a:solidFill>
                  <a:srgbClr val="C7CDD6"/>
                </a:solidFill>
              </a:rPr>
              <a:t>'.</a:t>
            </a:r>
            <a:endParaRPr sz="1100" b="0" dirty="0">
              <a:solidFill>
                <a:srgbClr val="C7CDD6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394960" y="1481328"/>
            <a:ext cx="3246120" cy="3108960"/>
          </a:xfrm>
          <a:prstGeom prst="roundRect">
            <a:avLst>
              <a:gd name="adj" fmla="val 5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1682496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FD5FA"/>
                </a:solidFill>
                <a:latin typeface="Instrument Sans Medium"/>
              </a:rPr>
              <a:t>Live examples</a:t>
            </a:r>
            <a:endParaRPr sz="1350" b="0">
              <a:solidFill>
                <a:srgbClr val="EFD5FA"/>
              </a:solidFill>
              <a:latin typeface="Instrument Sans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50992" y="2258568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“i want a sci-fi book”   →  fantasy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“a book for children”   →  kids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“something scary”        →  horror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“romence please”          →  romance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C7CDD6"/>
                </a:solidFill>
                <a:latin typeface="Inter" panose="02000503000000020004"/>
              </a:rPr>
              <a:t>“in englsh”                   →  english</a:t>
            </a:r>
            <a:endParaRPr sz="1100" b="0">
              <a:solidFill>
                <a:srgbClr val="C7CDD6"/>
              </a:solidFill>
              <a:latin typeface="Inter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457200"/>
            <a:ext cx="8147304" cy="426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50" dirty="0">
                <a:solidFill>
                  <a:srgbClr val="EFD5FA"/>
                </a:solidFill>
              </a:rPr>
              <a:t>Alexa vs Python Chatbot: Side-by-Side</a:t>
            </a:r>
            <a:endParaRPr sz="2750" dirty="0">
              <a:solidFill>
                <a:srgbClr val="EFD5FA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3776" y="1325880"/>
            <a:ext cx="3977639" cy="3200400"/>
          </a:xfrm>
          <a:prstGeom prst="roundRect">
            <a:avLst>
              <a:gd name="adj" fmla="val 4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3538727" cy="232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dirty="0">
                <a:solidFill>
                  <a:srgbClr val="EFD5FA"/>
                </a:solidFill>
              </a:rPr>
              <a:t>Alexa Skill (ASK + Lambda)</a:t>
            </a:r>
            <a:endParaRPr sz="1500" dirty="0">
              <a:solidFill>
                <a:srgbClr val="EFD5F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929384"/>
            <a:ext cx="3538727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dirty="0">
                <a:solidFill>
                  <a:srgbClr val="9AD8A8"/>
                </a:solidFill>
              </a:rPr>
              <a:t>PROS</a:t>
            </a:r>
            <a:endParaRPr sz="1050" dirty="0">
              <a:solidFill>
                <a:srgbClr val="9AD8A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194560"/>
            <a:ext cx="3538727" cy="843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9AD8A8"/>
                </a:solidFill>
                <a:latin typeface="Inter" panose="02000503000000020004"/>
              </a:rPr>
              <a:t>+  </a:t>
            </a:r>
            <a:r>
              <a:rPr sz="1050" dirty="0">
                <a:solidFill>
                  <a:srgbClr val="C7CDD6"/>
                </a:solidFill>
              </a:rPr>
              <a:t>Voice-first, hands-free on real devices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9AD8A8"/>
                </a:solidFill>
              </a:rPr>
              <a:t>+  </a:t>
            </a:r>
            <a:r>
              <a:rPr sz="1050" dirty="0">
                <a:solidFill>
                  <a:srgbClr val="C7CDD6"/>
                </a:solidFill>
              </a:rPr>
              <a:t>Built-in ASR &amp; NLU, ready-made slot types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9AD8A8"/>
                </a:solidFill>
              </a:rPr>
              <a:t>+  </a:t>
            </a:r>
            <a:r>
              <a:rPr sz="1050" dirty="0">
                <a:solidFill>
                  <a:srgbClr val="C7CDD6"/>
                </a:solidFill>
              </a:rPr>
              <a:t>APL visual cards + Open Library covers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9AD8A8"/>
                </a:solidFill>
              </a:rPr>
              <a:t>+  </a:t>
            </a:r>
            <a:r>
              <a:rPr sz="1050" dirty="0">
                <a:solidFill>
                  <a:srgbClr val="C7CDD6"/>
                </a:solidFill>
              </a:rPr>
              <a:t>Managed scaling; publishable to users</a:t>
            </a:r>
            <a:endParaRPr sz="1050" dirty="0">
              <a:solidFill>
                <a:srgbClr val="C7CDD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3410711"/>
            <a:ext cx="35387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F2B0B0"/>
                </a:solidFill>
                <a:latin typeface="Instrument Sans Medium"/>
              </a:rPr>
              <a:t>CONS</a:t>
            </a:r>
            <a:endParaRPr sz="1050">
              <a:solidFill>
                <a:srgbClr val="F2B0B0"/>
              </a:solidFill>
              <a:latin typeface="Instrument Sans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3675887"/>
            <a:ext cx="3538727" cy="61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F2B0B0"/>
                </a:solidFill>
              </a:rPr>
              <a:t>–  </a:t>
            </a:r>
            <a:r>
              <a:rPr sz="1050" dirty="0">
                <a:solidFill>
                  <a:srgbClr val="C7CDD6"/>
                </a:solidFill>
              </a:rPr>
              <a:t>Depends on cloud console &amp; AWS Lambda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F2B0B0"/>
                </a:solidFill>
              </a:rPr>
              <a:t>–  </a:t>
            </a:r>
            <a:r>
              <a:rPr sz="1050" dirty="0">
                <a:solidFill>
                  <a:srgbClr val="C7CDD6"/>
                </a:solidFill>
              </a:rPr>
              <a:t>Slower to debug (request JSON, redeploys)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F2B0B0"/>
                </a:solidFill>
              </a:rPr>
              <a:t>–  </a:t>
            </a:r>
            <a:r>
              <a:rPr sz="1050" dirty="0">
                <a:solidFill>
                  <a:srgbClr val="C7CDD6"/>
                </a:solidFill>
              </a:rPr>
              <a:t>Less control over the matching logic</a:t>
            </a:r>
            <a:endParaRPr sz="1050" dirty="0">
              <a:solidFill>
                <a:srgbClr val="C7CDD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72584" y="1325880"/>
            <a:ext cx="3977639" cy="3200400"/>
          </a:xfrm>
          <a:prstGeom prst="roundRect">
            <a:avLst>
              <a:gd name="adj" fmla="val 4000"/>
            </a:avLst>
          </a:prstGeom>
          <a:solidFill>
            <a:srgbClr val="434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35387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dirty="0">
                <a:solidFill>
                  <a:srgbClr val="EFD5FA"/>
                </a:solidFill>
                <a:latin typeface="Instrument Sans Medium"/>
              </a:rPr>
              <a:t>Python Chatbot (notebook)</a:t>
            </a:r>
            <a:endParaRPr sz="1500" dirty="0">
              <a:solidFill>
                <a:srgbClr val="EFD5FA"/>
              </a:solidFill>
              <a:latin typeface="Instrument Sans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1929384"/>
            <a:ext cx="3538727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dirty="0">
                <a:solidFill>
                  <a:srgbClr val="9AD8A8"/>
                </a:solidFill>
              </a:rPr>
              <a:t>PROS</a:t>
            </a:r>
            <a:endParaRPr sz="1050" dirty="0">
              <a:solidFill>
                <a:srgbClr val="9AD8A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2194560"/>
            <a:ext cx="3538727" cy="843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9AD8A8"/>
                </a:solidFill>
                <a:latin typeface="Inter" panose="02000503000000020004"/>
              </a:rPr>
              <a:t>+  </a:t>
            </a:r>
            <a:r>
              <a:rPr lang="en-US" sz="1050" dirty="0">
                <a:solidFill>
                  <a:srgbClr val="C7CDD6"/>
                </a:solidFill>
              </a:rPr>
              <a:t>Full, transparent control of every step</a:t>
            </a:r>
            <a:endParaRPr lang="en-US"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50" dirty="0">
                <a:solidFill>
                  <a:srgbClr val="9AD8A8"/>
                </a:solidFill>
              </a:rPr>
              <a:t>+  </a:t>
            </a:r>
            <a:r>
              <a:rPr lang="en-US" sz="1050" dirty="0">
                <a:solidFill>
                  <a:srgbClr val="C7CDD6"/>
                </a:solidFill>
              </a:rPr>
              <a:t>Runs offline; instant test &amp; iterate</a:t>
            </a:r>
            <a:endParaRPr lang="en-US"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50" dirty="0">
                <a:solidFill>
                  <a:srgbClr val="9AD8A8"/>
                </a:solidFill>
              </a:rPr>
              <a:t>+  </a:t>
            </a:r>
            <a:r>
              <a:rPr lang="en-US" sz="1050" dirty="0">
                <a:solidFill>
                  <a:srgbClr val="C7CDD6"/>
                </a:solidFill>
              </a:rPr>
              <a:t>Custom ML (TF-IDF + classifier) we own</a:t>
            </a:r>
            <a:endParaRPr lang="en-US"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50" dirty="0">
                <a:solidFill>
                  <a:srgbClr val="9AD8A8"/>
                </a:solidFill>
              </a:rPr>
              <a:t>+  </a:t>
            </a:r>
            <a:r>
              <a:rPr lang="en-US" sz="1050" dirty="0">
                <a:solidFill>
                  <a:srgbClr val="C7CDD6"/>
                </a:solidFill>
              </a:rPr>
              <a:t>Easy to evaluate (CV, confusion matrix)</a:t>
            </a:r>
            <a:endParaRPr lang="en-US" sz="1050" dirty="0">
              <a:solidFill>
                <a:srgbClr val="C7CDD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92040" y="3410711"/>
            <a:ext cx="35387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F2B0B0"/>
                </a:solidFill>
                <a:latin typeface="Instrument Sans Medium"/>
              </a:rPr>
              <a:t>CONS</a:t>
            </a:r>
            <a:endParaRPr sz="1050">
              <a:solidFill>
                <a:srgbClr val="F2B0B0"/>
              </a:solidFill>
              <a:latin typeface="Instrument Sans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2039" y="3675887"/>
            <a:ext cx="3538727" cy="61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F2B0B0"/>
                </a:solidFill>
              </a:rPr>
              <a:t>–  </a:t>
            </a:r>
            <a:r>
              <a:rPr sz="1050" dirty="0">
                <a:solidFill>
                  <a:srgbClr val="C7CDD6"/>
                </a:solidFill>
              </a:rPr>
              <a:t>Text-only — no real voice interface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F2B0B0"/>
                </a:solidFill>
              </a:rPr>
              <a:t>–  </a:t>
            </a:r>
            <a:r>
              <a:rPr sz="1050" dirty="0">
                <a:solidFill>
                  <a:srgbClr val="C7CDD6"/>
                </a:solidFill>
              </a:rPr>
              <a:t>Slot filling &amp; NLU are hand-built</a:t>
            </a:r>
            <a:endParaRPr sz="1050" dirty="0">
              <a:solidFill>
                <a:srgbClr val="C7CDD6"/>
              </a:solidFill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dirty="0">
                <a:solidFill>
                  <a:srgbClr val="F2B0B0"/>
                </a:solidFill>
              </a:rPr>
              <a:t>–  </a:t>
            </a:r>
            <a:r>
              <a:rPr sz="1050" dirty="0">
                <a:solidFill>
                  <a:srgbClr val="C7CDD6"/>
                </a:solidFill>
              </a:rPr>
              <a:t>Notebook demo, not a deployable product</a:t>
            </a:r>
            <a:endParaRPr sz="1050" dirty="0">
              <a:solidFill>
                <a:srgbClr val="C7CDD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3" y="4686300"/>
            <a:ext cx="8147304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dirty="0">
                <a:solidFill>
                  <a:srgbClr val="C7CDD6"/>
                </a:solidFill>
              </a:rPr>
              <a:t>Same skill, two implementations: Alexa delivers real voice UX, while the Python bot gives transparent, testable logic.</a:t>
            </a:r>
            <a:endParaRPr sz="1000" dirty="0">
              <a:solidFill>
                <a:srgbClr val="C7CDD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3422</Words>
  <Application>WPS Presentation</Application>
  <PresentationFormat>On-screen Show (16:9)</PresentationFormat>
  <Paragraphs>185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Instrument Sans Medium</vt:lpstr>
      <vt:lpstr>Instrument Sans Medium</vt:lpstr>
      <vt:lpstr>Instrument Sans Medium</vt:lpstr>
      <vt:lpstr>Inter</vt:lpstr>
      <vt:lpstr>Inter</vt:lpstr>
      <vt:lpstr>Inter</vt:lpstr>
      <vt:lpstr>Instrument Sans Medium</vt:lpstr>
      <vt:lpstr>Inter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Bhargavi Lingamaneni</cp:lastModifiedBy>
  <cp:revision>16</cp:revision>
  <dcterms:created xsi:type="dcterms:W3CDTF">2026-07-18T06:30:00Z</dcterms:created>
  <dcterms:modified xsi:type="dcterms:W3CDTF">2026-07-18T10:26:11Z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1C968D1411924C67BCE6E0652752CD25_12</vt:lpwstr>
  </property>
  <property fmtid="{D5CDD505-2E9C-101B-9397-08002B2CF9AE}" pid="3" name="KSOProductBuildVer">
    <vt:lpwstr>2057-12.2.0.23206</vt:lpwstr>
  </property>
</Properties>
</file>