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h4AfVyWRDnOQFXYZU1MxxlsaUg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CD5D6D-569D-4B3D-A590-BDC04E8A2EF4}">
  <a:tblStyle styleId="{5ECD5D6D-569D-4B3D-A590-BDC04E8A2EF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AE6"/>
          </a:solidFill>
        </a:fill>
      </a:tcStyle>
    </a:wholeTbl>
    <a:band1H>
      <a:tcTxStyle b="off" i="off"/>
      <a:tcStyle>
        <a:fill>
          <a:solidFill>
            <a:srgbClr val="F9D3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9D3C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0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" type="subTitle"/>
          </p:nvPr>
        </p:nvSpPr>
        <p:spPr>
          <a:xfrm>
            <a:off x="2961564" y="3777016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" name="Google Shape;17;p10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8" name="Google Shape;18;p10"/>
          <p:cNvCxnSpPr/>
          <p:nvPr/>
        </p:nvCxnSpPr>
        <p:spPr>
          <a:xfrm>
            <a:off x="9279031" y="4235851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10"/>
          <p:cNvCxnSpPr/>
          <p:nvPr/>
        </p:nvCxnSpPr>
        <p:spPr>
          <a:xfrm>
            <a:off x="2035431" y="4211003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" name="Google Shape;20;p10"/>
          <p:cNvGrpSpPr/>
          <p:nvPr/>
        </p:nvGrpSpPr>
        <p:grpSpPr>
          <a:xfrm>
            <a:off x="518604" y="1362700"/>
            <a:ext cx="10986448" cy="494518"/>
            <a:chOff x="1346429" y="1011300"/>
            <a:chExt cx="6452100" cy="152400"/>
          </a:xfrm>
        </p:grpSpPr>
        <p:cxnSp>
          <p:nvCxnSpPr>
            <p:cNvPr id="21" name="Google Shape;21;p10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" name="Google Shape;22;p10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" name="Google Shape;23;p10"/>
          <p:cNvGrpSpPr/>
          <p:nvPr/>
        </p:nvGrpSpPr>
        <p:grpSpPr>
          <a:xfrm>
            <a:off x="518616" y="5292133"/>
            <a:ext cx="10986448" cy="494518"/>
            <a:chOff x="1346435" y="3969088"/>
            <a:chExt cx="6452100" cy="152400"/>
          </a:xfrm>
        </p:grpSpPr>
        <p:cxnSp>
          <p:nvCxnSpPr>
            <p:cNvPr id="24" name="Google Shape;24;p10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" name="Google Shape;25;p10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609600" y="191069"/>
            <a:ext cx="9517039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609600" y="1160060"/>
            <a:ext cx="5410200" cy="53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2"/>
          <p:cNvSpPr txBox="1"/>
          <p:nvPr>
            <p:ph idx="2" type="body"/>
          </p:nvPr>
        </p:nvSpPr>
        <p:spPr>
          <a:xfrm>
            <a:off x="6335973" y="1173707"/>
            <a:ext cx="5410200" cy="528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11491414" y="6492875"/>
            <a:ext cx="700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hank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11450472" y="6492875"/>
            <a:ext cx="741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7" name="Google Shape;37;p13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b="1" sz="4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/>
          <p:nvPr>
            <p:ph type="ctrTitle"/>
          </p:nvPr>
        </p:nvSpPr>
        <p:spPr>
          <a:xfrm>
            <a:off x="914400" y="2947916"/>
            <a:ext cx="10363200" cy="121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4"/>
          <p:cNvSpPr txBox="1"/>
          <p:nvPr>
            <p:ph idx="1" type="subTitle"/>
          </p:nvPr>
        </p:nvSpPr>
        <p:spPr>
          <a:xfrm>
            <a:off x="2961564" y="4336584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3" name="Google Shape;43;p14"/>
          <p:cNvCxnSpPr/>
          <p:nvPr/>
        </p:nvCxnSpPr>
        <p:spPr>
          <a:xfrm>
            <a:off x="9279031" y="4795419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14"/>
          <p:cNvCxnSpPr/>
          <p:nvPr/>
        </p:nvCxnSpPr>
        <p:spPr>
          <a:xfrm>
            <a:off x="2035431" y="4770571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5" name="Google Shape;45;p14"/>
          <p:cNvGrpSpPr/>
          <p:nvPr/>
        </p:nvGrpSpPr>
        <p:grpSpPr>
          <a:xfrm>
            <a:off x="518616" y="5292133"/>
            <a:ext cx="10986448" cy="494518"/>
            <a:chOff x="1346435" y="3969088"/>
            <a:chExt cx="6452100" cy="152400"/>
          </a:xfrm>
        </p:grpSpPr>
        <p:cxnSp>
          <p:nvCxnSpPr>
            <p:cNvPr id="46" name="Google Shape;46;p14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" name="Google Shape;47;p14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/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" type="body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11600596" y="6492875"/>
            <a:ext cx="5914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609599" y="1180271"/>
            <a:ext cx="53863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6"/>
          <p:cNvSpPr txBox="1"/>
          <p:nvPr>
            <p:ph idx="2" type="body"/>
          </p:nvPr>
        </p:nvSpPr>
        <p:spPr>
          <a:xfrm>
            <a:off x="609600" y="1883390"/>
            <a:ext cx="5386388" cy="4626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6" name="Google Shape;56;p16"/>
          <p:cNvSpPr txBox="1"/>
          <p:nvPr>
            <p:ph idx="3" type="body"/>
          </p:nvPr>
        </p:nvSpPr>
        <p:spPr>
          <a:xfrm>
            <a:off x="6192839" y="1166623"/>
            <a:ext cx="538956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6"/>
          <p:cNvSpPr txBox="1"/>
          <p:nvPr>
            <p:ph idx="4" type="body"/>
          </p:nvPr>
        </p:nvSpPr>
        <p:spPr>
          <a:xfrm>
            <a:off x="6192838" y="1842448"/>
            <a:ext cx="5389562" cy="4640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11600596" y="6492875"/>
            <a:ext cx="5914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type="title"/>
          </p:nvPr>
        </p:nvSpPr>
        <p:spPr>
          <a:xfrm>
            <a:off x="609600" y="191069"/>
            <a:ext cx="9557982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2" type="sldNum"/>
          </p:nvPr>
        </p:nvSpPr>
        <p:spPr>
          <a:xfrm>
            <a:off x="11464118" y="6492875"/>
            <a:ext cx="7278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0"/>
          <p:cNvSpPr txBox="1"/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20"/>
          <p:cNvSpPr txBox="1"/>
          <p:nvPr>
            <p:ph idx="2" type="body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2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0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20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1"/>
          <p:cNvSpPr txBox="1"/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1"/>
          <p:cNvSpPr/>
          <p:nvPr>
            <p:ph idx="2" type="pic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 rot="5400000">
            <a:off x="3393744" y="-1624084"/>
            <a:ext cx="540451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>
  <p:cSld name="標題及物件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idx="1" type="body"/>
          </p:nvPr>
        </p:nvSpPr>
        <p:spPr>
          <a:xfrm>
            <a:off x="609600" y="1105469"/>
            <a:ext cx="10972800" cy="53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2" type="sldNum"/>
          </p:nvPr>
        </p:nvSpPr>
        <p:spPr>
          <a:xfrm>
            <a:off x="11461709" y="6425015"/>
            <a:ext cx="730291" cy="4329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9" name="Google Shape;89;p23"/>
          <p:cNvSpPr txBox="1"/>
          <p:nvPr>
            <p:ph type="title"/>
          </p:nvPr>
        </p:nvSpPr>
        <p:spPr>
          <a:xfrm>
            <a:off x="609600" y="191069"/>
            <a:ext cx="9612573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609600" y="1160059"/>
            <a:ext cx="10972800" cy="5404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" name="Google Shape;13;p9" title="New Logo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0133625" y="-1"/>
            <a:ext cx="2058375" cy="516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www.gutenberg.org/files/2781/2781-0.txt" TargetMode="External"/><Relationship Id="rId4" Type="http://schemas.openxmlformats.org/officeDocument/2006/relationships/hyperlink" Target="http://www.gutenberg.org/files/1732/1732-0.txt" TargetMode="External"/><Relationship Id="rId5" Type="http://schemas.openxmlformats.org/officeDocument/2006/relationships/hyperlink" Target="http://www.gutenberg.org/cache/epub/21327/pg21327.txt" TargetMode="External"/><Relationship Id="rId6" Type="http://schemas.openxmlformats.org/officeDocument/2006/relationships/hyperlink" Target="http://www.gutenberg.org/files/245/245-0.txt" TargetMode="External"/><Relationship Id="rId7" Type="http://schemas.openxmlformats.org/officeDocument/2006/relationships/hyperlink" Target="http://www.gutenberg.org/files/1477/1477-0.tx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Author Identification</a:t>
            </a:r>
            <a:endParaRPr/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2961564" y="3777016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en-IN" sz="2800"/>
              <a:t>Mini Hackathon : 10 Marks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Problem Statement</a:t>
            </a:r>
            <a:endParaRPr/>
          </a:p>
        </p:txBody>
      </p:sp>
      <p:sp>
        <p:nvSpPr>
          <p:cNvPr id="101" name="Google Shape;101;p2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t/>
            </a:r>
            <a:endParaRPr sz="3600"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 sz="3600"/>
              <a:t>Identify the author of a book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IN" sz="3600"/>
              <a:t>from a given list of possible authors</a:t>
            </a:r>
            <a:endParaRPr sz="3600"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5412" y="1955588"/>
            <a:ext cx="1781175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Learning Objectives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Extract features using traditional methods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Extract features using TFIDF or CountVectorizer or Word2vec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Write an algorithm to identify author of a given book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Overview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Determine the corresponding author of an anonymous text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IN"/>
              <a:t>A typical </a:t>
            </a:r>
            <a:r>
              <a:rPr lang="en-IN">
                <a:solidFill>
                  <a:srgbClr val="C00000"/>
                </a:solidFill>
              </a:rPr>
              <a:t>classification problem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IN"/>
              <a:t>Training Data: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Set of books with known authors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IN"/>
              <a:t>Applications: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Plagiarism detection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Finding the author of an anonymously published literary work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Identifying an individual terrorist from his written letters or threat emails and shortlisting potential criminals.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Dataset : Project Gutenberg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/>
              <a:t>This project is focused on books written in English and in plain text form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IN">
                <a:solidFill>
                  <a:schemeClr val="accent1"/>
                </a:solidFill>
              </a:rPr>
              <a:t>A short stories collection of each author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121" name="Google Shape;121;p5"/>
          <p:cNvPicPr preferRelativeResize="0"/>
          <p:nvPr>
            <p:ph idx="4294967295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4875" y="1456246"/>
            <a:ext cx="2762250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/>
          <p:nvPr>
            <p:ph type="title"/>
          </p:nvPr>
        </p:nvSpPr>
        <p:spPr>
          <a:xfrm>
            <a:off x="609600" y="191069"/>
            <a:ext cx="9517039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Authors and Allocation</a:t>
            </a:r>
            <a:endParaRPr/>
          </a:p>
        </p:txBody>
      </p:sp>
      <p:sp>
        <p:nvSpPr>
          <p:cNvPr id="127" name="Google Shape;127;p6"/>
          <p:cNvSpPr txBox="1"/>
          <p:nvPr>
            <p:ph idx="1" type="body"/>
          </p:nvPr>
        </p:nvSpPr>
        <p:spPr>
          <a:xfrm>
            <a:off x="609600" y="1160060"/>
            <a:ext cx="5410200" cy="53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651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1651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Author-A -&gt; </a:t>
            </a:r>
            <a:r>
              <a:rPr lang="en-IN" u="sng">
                <a:solidFill>
                  <a:schemeClr val="hlink"/>
                </a:solidFill>
                <a:hlinkClick r:id="rId3"/>
              </a:rPr>
              <a:t>Rudyard Kipling</a:t>
            </a:r>
            <a:r>
              <a:rPr lang="en-IN"/>
              <a:t> 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Author-B -&gt; </a:t>
            </a:r>
            <a:r>
              <a:rPr lang="en-IN" u="sng">
                <a:solidFill>
                  <a:schemeClr val="hlink"/>
                </a:solidFill>
                <a:hlinkClick r:id="rId4"/>
              </a:rPr>
              <a:t>Anton Chekhov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Author-C -&gt; </a:t>
            </a:r>
            <a:r>
              <a:rPr lang="en-IN" u="sng">
                <a:solidFill>
                  <a:schemeClr val="hlink"/>
                </a:solidFill>
                <a:hlinkClick r:id="rId5"/>
              </a:rPr>
              <a:t>Guy De Maupassant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Author-D -&gt; </a:t>
            </a:r>
            <a:r>
              <a:rPr lang="en-IN" u="sng">
                <a:solidFill>
                  <a:schemeClr val="hlink"/>
                </a:solidFill>
                <a:hlinkClick r:id="rId6"/>
              </a:rPr>
              <a:t>Mark Twain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Author-E -&gt; </a:t>
            </a:r>
            <a:r>
              <a:rPr lang="en-IN" u="sng">
                <a:solidFill>
                  <a:schemeClr val="hlink"/>
                </a:solidFill>
                <a:hlinkClick r:id="rId7"/>
              </a:rPr>
              <a:t>Saki</a:t>
            </a:r>
            <a:endParaRPr/>
          </a:p>
        </p:txBody>
      </p:sp>
      <p:graphicFrame>
        <p:nvGraphicFramePr>
          <p:cNvPr id="128" name="Google Shape;128;p6"/>
          <p:cNvGraphicFramePr/>
          <p:nvPr/>
        </p:nvGraphicFramePr>
        <p:xfrm>
          <a:off x="6232051" y="2303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{5ECD5D6D-569D-4B3D-A590-BDC04E8A2EF4}</a:tableStyleId>
              </a:tblPr>
              <a:tblGrid>
                <a:gridCol w="2192150"/>
                <a:gridCol w="2808000"/>
              </a:tblGrid>
              <a:tr h="45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Team Numbers</a:t>
                      </a:r>
                      <a:endParaRPr sz="1400" u="none" cap="none" strike="noStrike"/>
                    </a:p>
                  </a:txBody>
                  <a:tcPr marT="88025" marB="88025" marR="176075" marL="1760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IN" sz="1800" u="none" cap="none" strike="noStrike"/>
                        <a:t>Authors Allocation</a:t>
                      </a:r>
                      <a:endParaRPr sz="1400" u="none" cap="none" strike="noStrike"/>
                    </a:p>
                  </a:txBody>
                  <a:tcPr marT="88025" marB="88025" marR="176075" marL="176075"/>
                </a:tc>
              </a:tr>
              <a:tr h="450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1, 5, 9, 13, 17, 21,25</a:t>
                      </a:r>
                      <a:endParaRPr b="1" sz="1800" u="none" cap="none" strike="noStrike"/>
                    </a:p>
                  </a:txBody>
                  <a:tcPr marT="88025" marB="88025" marR="176075" marL="176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Author A vs Author B</a:t>
                      </a:r>
                      <a:endParaRPr b="1" sz="1400" u="none" cap="none" strike="noStrike"/>
                    </a:p>
                  </a:txBody>
                  <a:tcPr marT="88025" marB="88025" marR="176075" marL="176075" anchor="ctr"/>
                </a:tc>
              </a:tr>
              <a:tr h="72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2, 6, 10, 14, 18,  22,26</a:t>
                      </a:r>
                      <a:endParaRPr b="1" sz="1400" u="none" cap="none" strike="noStrike"/>
                    </a:p>
                  </a:txBody>
                  <a:tcPr marT="88025" marB="88025" marR="176075" marL="176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Author B vs Author C</a:t>
                      </a:r>
                      <a:endParaRPr b="1" sz="1400" u="none" cap="none" strike="noStrike"/>
                    </a:p>
                  </a:txBody>
                  <a:tcPr marT="88025" marB="88025" marR="176075" marL="176075" anchor="ctr"/>
                </a:tc>
              </a:tr>
              <a:tr h="72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3, 7, 11, 15, 19, 23,27</a:t>
                      </a:r>
                      <a:endParaRPr b="1" sz="1400" u="none" cap="none" strike="noStrike"/>
                    </a:p>
                  </a:txBody>
                  <a:tcPr marT="88025" marB="88025" marR="176075" marL="176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Author C vs Author D</a:t>
                      </a:r>
                      <a:endParaRPr b="1" sz="1400" u="none" cap="none" strike="noStrike"/>
                    </a:p>
                  </a:txBody>
                  <a:tcPr marT="88025" marB="88025" marR="176075" marL="176075" anchor="ctr"/>
                </a:tc>
              </a:tr>
              <a:tr h="724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4, 8, 12, 16, 20, 24,28</a:t>
                      </a:r>
                      <a:endParaRPr b="1" sz="1400" u="none" cap="none" strike="noStrike"/>
                    </a:p>
                  </a:txBody>
                  <a:tcPr marT="88025" marB="88025" marR="176075" marL="1760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/>
                        <a:t>Author D vs Author E</a:t>
                      </a:r>
                      <a:endParaRPr b="1" sz="1400" u="none" cap="none" strike="noStrike"/>
                    </a:p>
                  </a:txBody>
                  <a:tcPr marT="88025" marB="88025" marR="176075" marL="1760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IN"/>
              <a:t>Tasks</a:t>
            </a:r>
            <a:endParaRPr/>
          </a:p>
        </p:txBody>
      </p:sp>
      <p:sp>
        <p:nvSpPr>
          <p:cNvPr id="134" name="Google Shape;134;p7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IN"/>
              <a:t>Stage 1:</a:t>
            </a:r>
            <a:r>
              <a:rPr lang="en-IN"/>
              <a:t> Dataset Preparation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IN"/>
              <a:t>Stage 2</a:t>
            </a:r>
            <a:r>
              <a:rPr lang="en-IN"/>
              <a:t>: Experiment with Handcrafted features representation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IN"/>
              <a:t>Stage 3:</a:t>
            </a:r>
            <a:r>
              <a:rPr lang="en-IN"/>
              <a:t> Experiment with text processing and representation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(TFIDF or CountVectorizer or Word2vec features)</a:t>
            </a:r>
            <a:endParaRPr/>
          </a:p>
          <a:p>
            <a:pPr indent="-1397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IN"/>
              <a:t>Stage 4:</a:t>
            </a:r>
            <a:r>
              <a:rPr lang="en-IN"/>
              <a:t> Classification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IN"/>
              <a:t>Perform a classification using either features obtained from Stage2 or Stage3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IN">
                <a:solidFill>
                  <a:schemeClr val="accent1"/>
                </a:solidFill>
              </a:rPr>
              <a:t>Expected accuracy is above 85%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706240" y="351591"/>
            <a:ext cx="5811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IN"/>
              <a:t>Guidelines for Mini-hackathon</a:t>
            </a:r>
            <a:endParaRPr/>
          </a:p>
        </p:txBody>
      </p:sp>
      <p:sp>
        <p:nvSpPr>
          <p:cNvPr id="140" name="Google Shape;140;p24"/>
          <p:cNvSpPr txBox="1"/>
          <p:nvPr/>
        </p:nvSpPr>
        <p:spPr>
          <a:xfrm>
            <a:off x="806700" y="1353475"/>
            <a:ext cx="9669300" cy="26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075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hackathon will take place on S</a:t>
            </a:r>
            <a:r>
              <a:rPr lang="en-IN" sz="2400">
                <a:solidFill>
                  <a:schemeClr val="dk1"/>
                </a:solidFill>
              </a:rPr>
              <a:t>unday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(02:00 PM - 6:00 PM)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 starts from Saturday@ 5 PM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Group activity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Graded for 10 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IN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 and get help with mentor during the lab sessions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</a:pPr>
            <a:r>
              <a:rPr lang="en-IN"/>
              <a:t>Thanks!!</a:t>
            </a:r>
            <a:endParaRPr/>
          </a:p>
        </p:txBody>
      </p:sp>
      <p:sp>
        <p:nvSpPr>
          <p:cNvPr id="146" name="Google Shape;146;p8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I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ML_Templatev5_08312018">
  <a:themeElements>
    <a:clrScheme name="AIM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EF6C00"/>
      </a:accent1>
      <a:accent2>
        <a:srgbClr val="632423"/>
      </a:accent2>
      <a:accent3>
        <a:srgbClr val="4F6128"/>
      </a:accent3>
      <a:accent4>
        <a:srgbClr val="3F3151"/>
      </a:accent4>
      <a:accent5>
        <a:srgbClr val="205867"/>
      </a:accent5>
      <a:accent6>
        <a:srgbClr val="974806"/>
      </a:accent6>
      <a:hlink>
        <a:srgbClr val="00007F"/>
      </a:hlink>
      <a:folHlink>
        <a:srgbClr val="3F00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2020-03-04T06:49:24Z</dcterms:created>
  <dc:creator>SUROBHI LAHIRI</dc:creator>
</cp:coreProperties>
</file>